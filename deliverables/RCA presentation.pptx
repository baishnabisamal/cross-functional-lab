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Inter SemiBold"/>
      <p:regular r:id="rId14"/>
      <p:bold r:id="rId15"/>
      <p:italic r:id="rId16"/>
      <p:boldItalic r:id="rId17"/>
    </p:embeddedFont>
    <p:embeddedFont>
      <p:font typeface="Montserrat"/>
      <p:bold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Montserrat ExtraBold"/>
      <p:bold r:id="rId24"/>
      <p:boldItalic r:id="rId25"/>
    </p:embeddedFont>
    <p:embeddedFont>
      <p:font typeface="Inter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MontserratExtraBold-bold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regular.fntdata"/><Relationship Id="rId25" Type="http://schemas.openxmlformats.org/officeDocument/2006/relationships/font" Target="fonts/MontserratExtraBold-boldItalic.fntdata"/><Relationship Id="rId28" Type="http://schemas.openxmlformats.org/officeDocument/2006/relationships/font" Target="fonts/InterMedium-italic.fntdata"/><Relationship Id="rId27" Type="http://schemas.openxmlformats.org/officeDocument/2006/relationships/font" Target="fonts/Inter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SemiBold-bold.fntdata"/><Relationship Id="rId14" Type="http://schemas.openxmlformats.org/officeDocument/2006/relationships/font" Target="fonts/InterSemiBold-regular.fntdata"/><Relationship Id="rId17" Type="http://schemas.openxmlformats.org/officeDocument/2006/relationships/font" Target="fonts/InterSemiBold-boldItalic.fntdata"/><Relationship Id="rId16" Type="http://schemas.openxmlformats.org/officeDocument/2006/relationships/font" Target="fonts/InterSemiBold-italic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2fdcf0cb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2fdcf0cb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2fdcf0cbf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2fdcf0cbf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2fdcf0cbf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2fdcf0cbf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2fdcf0cbf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2fdcf0cbf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2fdcf0cbf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2fdcf0cbf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2fdcf0cbf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2fdcf0cbf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2fdcf0cbf_0_10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2fdcf0cbf_0_1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2fdcf0cbf_0_1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2fdcf0cbf_0_1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2fdcf0cbf_9_0)">
  <p:cSld name="Generated (g3f2fdcf0cbf_9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762000" y="857250"/>
            <a:ext cx="4381500" cy="2857500"/>
            <a:chOff x="762000" y="857250"/>
            <a:chExt cx="4381500" cy="2857500"/>
          </a:xfrm>
        </p:grpSpPr>
        <p:sp>
          <p:nvSpPr>
            <p:cNvPr id="56" name="Google Shape;56;p14"/>
            <p:cNvSpPr txBox="1"/>
            <p:nvPr/>
          </p:nvSpPr>
          <p:spPr>
            <a:xfrm>
              <a:off x="762000" y="857250"/>
              <a:ext cx="4381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F444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ROOT CAUSE ANALYSIS (RCA)</a:t>
              </a:r>
              <a:endParaRPr b="1" sz="1100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" name="Google Shape;57;p14"/>
            <p:cNvSpPr txBox="1"/>
            <p:nvPr/>
          </p:nvSpPr>
          <p:spPr>
            <a:xfrm>
              <a:off x="762000" y="1238250"/>
              <a:ext cx="4381500" cy="1809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000">
                  <a:solidFill>
                    <a:srgbClr val="1E1B4B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Issue: Users Unable to Login to InstaSafe Portal</a:t>
              </a:r>
              <a:endParaRPr b="0" sz="3000">
                <a:solidFill>
                  <a:srgbClr val="1E1B4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58" name="Google Shape;58;p14"/>
            <p:cNvSpPr txBox="1"/>
            <p:nvPr/>
          </p:nvSpPr>
          <p:spPr>
            <a:xfrm>
              <a:off x="762000" y="3143250"/>
              <a:ext cx="438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An investigation into the 504 Gateway Timeout authentication gateway outage on 01/07/2026.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9" name="Google Shape;59;p14"/>
          <p:cNvGrpSpPr/>
          <p:nvPr/>
        </p:nvGrpSpPr>
        <p:grpSpPr>
          <a:xfrm>
            <a:off x="5524500" y="857250"/>
            <a:ext cx="2857500" cy="2857500"/>
            <a:chOff x="0" y="0"/>
            <a:chExt cx="2857500" cy="2857500"/>
          </a:xfrm>
        </p:grpSpPr>
        <p:pic>
          <p:nvPicPr>
            <p:cNvPr descr="A high-quality minimalist 3D rendering of a computer interface displaying a security warning sign and a locked padlock, red alert glow, professional cyber security concept, soft light background." id="60" name="Google Shape;60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2857500" cy="2857500"/>
            </a:xfrm>
            <a:prstGeom prst="roundRect">
              <a:avLst>
                <a:gd fmla="val 5333" name="adj"/>
              </a:avLst>
            </a:prstGeom>
            <a:noFill/>
            <a:ln>
              <a:noFill/>
            </a:ln>
          </p:spPr>
        </p:pic>
        <p:sp>
          <p:nvSpPr>
            <p:cNvPr id="61" name="Google Shape;61;p14"/>
            <p:cNvSpPr/>
            <p:nvPr/>
          </p:nvSpPr>
          <p:spPr>
            <a:xfrm>
              <a:off x="0" y="0"/>
              <a:ext cx="2857500" cy="2857500"/>
            </a:xfrm>
            <a:prstGeom prst="roundRect">
              <a:avLst>
                <a:gd fmla="val 5333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" name="Google Shape;62;p14"/>
          <p:cNvGrpSpPr/>
          <p:nvPr/>
        </p:nvGrpSpPr>
        <p:grpSpPr>
          <a:xfrm>
            <a:off x="762000" y="4238625"/>
            <a:ext cx="3429000" cy="495300"/>
            <a:chOff x="0" y="0"/>
            <a:chExt cx="3429000" cy="495300"/>
          </a:xfrm>
        </p:grpSpPr>
        <p:sp>
          <p:nvSpPr>
            <p:cNvPr id="63" name="Google Shape;63;p14"/>
            <p:cNvSpPr/>
            <p:nvPr/>
          </p:nvSpPr>
          <p:spPr>
            <a:xfrm>
              <a:off x="0" y="0"/>
              <a:ext cx="3429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 txBox="1"/>
            <p:nvPr/>
          </p:nvSpPr>
          <p:spPr>
            <a:xfrm>
              <a:off x="0" y="114300"/>
              <a:ext cx="3429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E1B4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Presented by: Baishnabi Samal</a:t>
              </a:r>
              <a:endParaRPr b="0" sz="1000">
                <a:solidFill>
                  <a:srgbClr val="1E1B4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5" name="Google Shape;65;p14"/>
          <p:cNvGrpSpPr/>
          <p:nvPr/>
        </p:nvGrpSpPr>
        <p:grpSpPr>
          <a:xfrm>
            <a:off x="4953000" y="4238625"/>
            <a:ext cx="3429000" cy="495300"/>
            <a:chOff x="0" y="0"/>
            <a:chExt cx="3429000" cy="495300"/>
          </a:xfrm>
        </p:grpSpPr>
        <p:sp>
          <p:nvSpPr>
            <p:cNvPr id="66" name="Google Shape;66;p14"/>
            <p:cNvSpPr/>
            <p:nvPr/>
          </p:nvSpPr>
          <p:spPr>
            <a:xfrm>
              <a:off x="0" y="0"/>
              <a:ext cx="3429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0" y="114300"/>
              <a:ext cx="3429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Module 4 – Problem Solving &amp; Root Cause Analysis</a:t>
              </a:r>
              <a:endParaRPr b="0" sz="1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5"/>
          <p:cNvGrpSpPr/>
          <p:nvPr/>
        </p:nvGrpSpPr>
        <p:grpSpPr>
          <a:xfrm>
            <a:off x="571500" y="381000"/>
            <a:ext cx="8001000" cy="1047900"/>
            <a:chOff x="571500" y="381000"/>
            <a:chExt cx="8001000" cy="1047900"/>
          </a:xfrm>
        </p:grpSpPr>
        <p:sp>
          <p:nvSpPr>
            <p:cNvPr id="73" name="Google Shape;73;p15"/>
            <p:cNvSpPr/>
            <p:nvPr/>
          </p:nvSpPr>
          <p:spPr>
            <a:xfrm>
              <a:off x="571500" y="381000"/>
              <a:ext cx="8001000" cy="1047900"/>
            </a:xfrm>
            <a:prstGeom prst="roundRect">
              <a:avLst>
                <a:gd fmla="val 10909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762000" y="523875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Problem Statement</a:t>
              </a:r>
              <a:endParaRPr b="0" sz="935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2040">
                  <a:solidFill>
                    <a:srgbClr val="1E1B4B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Incident: Users Unable to Log in to InstaSafe Portal</a:t>
              </a:r>
              <a:endParaRPr b="0" sz="2040">
                <a:solidFill>
                  <a:srgbClr val="1E1B4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>
            <a:off x="571500" y="1666875"/>
            <a:ext cx="8001000" cy="571500"/>
            <a:chOff x="0" y="0"/>
            <a:chExt cx="8001000" cy="571500"/>
          </a:xfrm>
        </p:grpSpPr>
        <p:sp>
          <p:nvSpPr>
            <p:cNvPr id="76" name="Google Shape;76;p15"/>
            <p:cNvSpPr/>
            <p:nvPr/>
          </p:nvSpPr>
          <p:spPr>
            <a:xfrm>
              <a:off x="0" y="0"/>
              <a:ext cx="8001000" cy="571500"/>
            </a:xfrm>
            <a:prstGeom prst="roundRect">
              <a:avLst>
                <a:gd fmla="val 16666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7" name="Google Shape;7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5400" cy="57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5"/>
            <p:cNvSpPr txBox="1"/>
            <p:nvPr/>
          </p:nvSpPr>
          <p:spPr>
            <a:xfrm>
              <a:off x="228600" y="17145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b="1" lang="en" sz="930">
                  <a:solidFill>
                    <a:srgbClr val="1E1B4B"/>
                  </a:solidFill>
                  <a:latin typeface="Inter"/>
                  <a:ea typeface="Inter"/>
                  <a:cs typeface="Inter"/>
                  <a:sym typeface="Inter"/>
                </a:rPr>
                <a:t>Critical Issue: Users experienced complete authentication lockout, resulting in "504 Gateway Timeout" errors during credential submission.</a:t>
              </a:r>
              <a:endParaRPr b="1" sz="930">
                <a:solidFill>
                  <a:srgbClr val="1E1B4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9" name="Google Shape;79;p15"/>
          <p:cNvGrpSpPr/>
          <p:nvPr/>
        </p:nvGrpSpPr>
        <p:grpSpPr>
          <a:xfrm>
            <a:off x="571500" y="2476500"/>
            <a:ext cx="3810000" cy="2190900"/>
            <a:chOff x="0" y="0"/>
            <a:chExt cx="3810000" cy="2190900"/>
          </a:xfrm>
        </p:grpSpPr>
        <p:sp>
          <p:nvSpPr>
            <p:cNvPr id="80" name="Google Shape;80;p15"/>
            <p:cNvSpPr/>
            <p:nvPr/>
          </p:nvSpPr>
          <p:spPr>
            <a:xfrm>
              <a:off x="0" y="0"/>
              <a:ext cx="38100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 txBox="1"/>
            <p:nvPr/>
          </p:nvSpPr>
          <p:spPr>
            <a:xfrm>
              <a:off x="228600" y="228600"/>
              <a:ext cx="3352800" cy="17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2563E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Symptoms</a:t>
              </a:r>
              <a:endParaRPr b="1" sz="1295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16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2563EB"/>
                </a:buClr>
                <a:buSzPts val="1190"/>
                <a:buChar char="●"/>
              </a:pPr>
              <a:r>
                <a:rPr b="0" lang="en" sz="935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Login page loads successfully</a:t>
              </a:r>
              <a:endParaRPr b="0" sz="935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0416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2563EB"/>
                </a:buClr>
                <a:buSzPts val="1190"/>
                <a:buChar char="●"/>
              </a:pPr>
              <a:r>
                <a:rPr b="0" lang="en" sz="935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Username and password accepted</a:t>
              </a:r>
              <a:endParaRPr b="0" sz="935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0416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2563EB"/>
                </a:buClr>
                <a:buSzPts val="1190"/>
                <a:buChar char="●"/>
              </a:pPr>
              <a:r>
                <a:rPr b="0" lang="en" sz="935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Authentication process fails</a:t>
              </a:r>
              <a:endParaRPr b="0" sz="935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0416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2563EB"/>
                </a:buClr>
                <a:buSzPts val="1190"/>
                <a:buChar char="●"/>
              </a:pPr>
              <a:r>
                <a:rPr b="0" lang="en" sz="935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Users completely blocked from accessing applications</a:t>
              </a:r>
              <a:endParaRPr b="0" sz="935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82" name="Google Shape;82;p15"/>
          <p:cNvGrpSpPr/>
          <p:nvPr/>
        </p:nvGrpSpPr>
        <p:grpSpPr>
          <a:xfrm>
            <a:off x="4762500" y="2476500"/>
            <a:ext cx="3810000" cy="2190900"/>
            <a:chOff x="0" y="0"/>
            <a:chExt cx="3810000" cy="2190900"/>
          </a:xfrm>
        </p:grpSpPr>
        <p:sp>
          <p:nvSpPr>
            <p:cNvPr id="83" name="Google Shape;83;p15"/>
            <p:cNvSpPr/>
            <p:nvPr/>
          </p:nvSpPr>
          <p:spPr>
            <a:xfrm>
              <a:off x="0" y="0"/>
              <a:ext cx="38100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228600" y="228600"/>
              <a:ext cx="3352800" cy="17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DC262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Impact</a:t>
              </a:r>
              <a:endParaRPr b="1" sz="1295">
                <a:solidFill>
                  <a:srgbClr val="DC262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0416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DC2626"/>
                </a:buClr>
                <a:buSzPts val="1190"/>
                <a:buChar char="●"/>
              </a:pPr>
              <a:r>
                <a:rPr b="0" lang="en" sz="935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Remote employees unable to perform work</a:t>
              </a:r>
              <a:endParaRPr b="0" sz="935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0416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DC2626"/>
                </a:buClr>
                <a:buSzPts val="1190"/>
                <a:buChar char="●"/>
              </a:pPr>
              <a:r>
                <a:rPr b="0" lang="en" sz="935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Core business operations heavily interrupted</a:t>
              </a:r>
              <a:endParaRPr b="0" sz="935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0416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DC2626"/>
                </a:buClr>
                <a:buSzPts val="1190"/>
                <a:buChar char="●"/>
              </a:pPr>
              <a:r>
                <a:rPr b="0" lang="en" sz="935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Spike in high-severity support tickets</a:t>
              </a:r>
              <a:endParaRPr b="0" sz="935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30416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DC2626"/>
                </a:buClr>
                <a:buSzPts val="1190"/>
                <a:buChar char="●"/>
              </a:pPr>
              <a:r>
                <a:rPr b="0" lang="en" sz="935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Overall company productivity drastically reduced</a:t>
              </a:r>
              <a:endParaRPr b="0" sz="935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571500" y="3810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INVESTIGATION PROCESS</a:t>
            </a:r>
            <a:endParaRPr b="0" sz="950">
              <a:solidFill>
                <a:srgbClr val="64748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1E1B4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Troubleshooting Steps Taken</a:t>
            </a:r>
            <a:endParaRPr b="0" sz="2200">
              <a:solidFill>
                <a:srgbClr val="1E1B4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91" name="Google Shape;91;p16"/>
          <p:cNvGrpSpPr/>
          <p:nvPr/>
        </p:nvGrpSpPr>
        <p:grpSpPr>
          <a:xfrm>
            <a:off x="571500" y="1428750"/>
            <a:ext cx="2476500" cy="952500"/>
            <a:chOff x="0" y="0"/>
            <a:chExt cx="2476500" cy="952500"/>
          </a:xfrm>
        </p:grpSpPr>
        <p:sp>
          <p:nvSpPr>
            <p:cNvPr id="92" name="Google Shape;92;p16"/>
            <p:cNvSpPr/>
            <p:nvPr/>
          </p:nvSpPr>
          <p:spPr>
            <a:xfrm>
              <a:off x="0" y="0"/>
              <a:ext cx="2476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6"/>
            <p:cNvSpPr txBox="1"/>
            <p:nvPr/>
          </p:nvSpPr>
          <p:spPr>
            <a:xfrm>
              <a:off x="190500" y="95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3B82F6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01</a:t>
              </a:r>
              <a:endParaRPr b="0" sz="1600">
                <a:solidFill>
                  <a:srgbClr val="3B82F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Verified user credentials.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94" name="Google Shape;94;p16"/>
          <p:cNvGrpSpPr/>
          <p:nvPr/>
        </p:nvGrpSpPr>
        <p:grpSpPr>
          <a:xfrm>
            <a:off x="3333750" y="1428750"/>
            <a:ext cx="2476500" cy="952500"/>
            <a:chOff x="0" y="0"/>
            <a:chExt cx="2476500" cy="952500"/>
          </a:xfrm>
        </p:grpSpPr>
        <p:sp>
          <p:nvSpPr>
            <p:cNvPr id="95" name="Google Shape;95;p16"/>
            <p:cNvSpPr/>
            <p:nvPr/>
          </p:nvSpPr>
          <p:spPr>
            <a:xfrm>
              <a:off x="0" y="0"/>
              <a:ext cx="2476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6"/>
            <p:cNvSpPr txBox="1"/>
            <p:nvPr/>
          </p:nvSpPr>
          <p:spPr>
            <a:xfrm>
              <a:off x="190500" y="95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3B82F6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02</a:t>
              </a:r>
              <a:endParaRPr b="0" sz="1600">
                <a:solidFill>
                  <a:srgbClr val="3B82F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Checked portal availability.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97" name="Google Shape;97;p16"/>
          <p:cNvGrpSpPr/>
          <p:nvPr/>
        </p:nvGrpSpPr>
        <p:grpSpPr>
          <a:xfrm>
            <a:off x="6096000" y="1428750"/>
            <a:ext cx="2476500" cy="952500"/>
            <a:chOff x="0" y="0"/>
            <a:chExt cx="2476500" cy="9525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0"/>
              <a:ext cx="2476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6"/>
            <p:cNvSpPr txBox="1"/>
            <p:nvPr/>
          </p:nvSpPr>
          <p:spPr>
            <a:xfrm>
              <a:off x="190500" y="95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3B82F6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03</a:t>
              </a:r>
              <a:endParaRPr b="0" sz="1600">
                <a:solidFill>
                  <a:srgbClr val="3B82F6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Reviewed authentication logs.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00" name="Google Shape;100;p16"/>
          <p:cNvGrpSpPr/>
          <p:nvPr/>
        </p:nvGrpSpPr>
        <p:grpSpPr>
          <a:xfrm>
            <a:off x="571500" y="2667000"/>
            <a:ext cx="2476500" cy="952500"/>
            <a:chOff x="0" y="0"/>
            <a:chExt cx="2476500" cy="952500"/>
          </a:xfrm>
        </p:grpSpPr>
        <p:sp>
          <p:nvSpPr>
            <p:cNvPr id="101" name="Google Shape;101;p16"/>
            <p:cNvSpPr/>
            <p:nvPr/>
          </p:nvSpPr>
          <p:spPr>
            <a:xfrm>
              <a:off x="0" y="0"/>
              <a:ext cx="2476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 txBox="1"/>
            <p:nvPr/>
          </p:nvSpPr>
          <p:spPr>
            <a:xfrm>
              <a:off x="190500" y="95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EF4444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04</a:t>
              </a:r>
              <a:endParaRPr b="0" sz="1600">
                <a:solidFill>
                  <a:srgbClr val="EF444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Verified Identity Provider connectivity.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03" name="Google Shape;103;p16"/>
          <p:cNvGrpSpPr/>
          <p:nvPr/>
        </p:nvGrpSpPr>
        <p:grpSpPr>
          <a:xfrm>
            <a:off x="3333750" y="2667000"/>
            <a:ext cx="2476500" cy="952500"/>
            <a:chOff x="0" y="0"/>
            <a:chExt cx="2476500" cy="952500"/>
          </a:xfrm>
        </p:grpSpPr>
        <p:sp>
          <p:nvSpPr>
            <p:cNvPr id="104" name="Google Shape;104;p16"/>
            <p:cNvSpPr/>
            <p:nvPr/>
          </p:nvSpPr>
          <p:spPr>
            <a:xfrm>
              <a:off x="0" y="0"/>
              <a:ext cx="2476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6"/>
            <p:cNvSpPr txBox="1"/>
            <p:nvPr/>
          </p:nvSpPr>
          <p:spPr>
            <a:xfrm>
              <a:off x="190500" y="95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EF4444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05</a:t>
              </a:r>
              <a:endParaRPr b="0" sz="1600">
                <a:solidFill>
                  <a:srgbClr val="EF444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Examined SAML authentication.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06" name="Google Shape;106;p16"/>
          <p:cNvGrpSpPr/>
          <p:nvPr/>
        </p:nvGrpSpPr>
        <p:grpSpPr>
          <a:xfrm>
            <a:off x="6096000" y="2667000"/>
            <a:ext cx="2476500" cy="952500"/>
            <a:chOff x="0" y="0"/>
            <a:chExt cx="2476500" cy="952500"/>
          </a:xfrm>
        </p:grpSpPr>
        <p:sp>
          <p:nvSpPr>
            <p:cNvPr id="107" name="Google Shape;107;p16"/>
            <p:cNvSpPr/>
            <p:nvPr/>
          </p:nvSpPr>
          <p:spPr>
            <a:xfrm>
              <a:off x="0" y="0"/>
              <a:ext cx="2476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 txBox="1"/>
            <p:nvPr/>
          </p:nvSpPr>
          <p:spPr>
            <a:xfrm>
              <a:off x="190500" y="95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EF4444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06</a:t>
              </a:r>
              <a:endParaRPr b="0" sz="1600">
                <a:solidFill>
                  <a:srgbClr val="EF444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Checked recent configuration changes.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09" name="Google Shape;109;p16"/>
          <p:cNvGrpSpPr/>
          <p:nvPr/>
        </p:nvGrpSpPr>
        <p:grpSpPr>
          <a:xfrm>
            <a:off x="571500" y="3995738"/>
            <a:ext cx="8001000" cy="404963"/>
            <a:chOff x="0" y="-4762"/>
            <a:chExt cx="8001000" cy="404963"/>
          </a:xfrm>
        </p:grpSpPr>
        <p:pic>
          <p:nvPicPr>
            <p:cNvPr id="110" name="Google Shape;110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-4762"/>
              <a:ext cx="7962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16"/>
            <p:cNvSpPr txBox="1"/>
            <p:nvPr/>
          </p:nvSpPr>
          <p:spPr>
            <a:xfrm>
              <a:off x="0" y="11430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Module 4 – Problem Solving &amp; Root Cause Analysis</a:t>
              </a:r>
              <a:endParaRPr b="0" sz="9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571500" y="3810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ROOT CAUSE ANALYSIS</a:t>
            </a:r>
            <a:endParaRPr b="0" sz="950">
              <a:solidFill>
                <a:srgbClr val="64748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1E1B4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5 Whys Analysis</a:t>
            </a:r>
            <a:endParaRPr b="0" sz="2200">
              <a:solidFill>
                <a:srgbClr val="1E1B4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18" name="Google Shape;118;p17"/>
          <p:cNvGrpSpPr/>
          <p:nvPr/>
        </p:nvGrpSpPr>
        <p:grpSpPr>
          <a:xfrm>
            <a:off x="809625" y="1381125"/>
            <a:ext cx="7763025" cy="2809875"/>
            <a:chOff x="238125" y="142875"/>
            <a:chExt cx="7763025" cy="2809875"/>
          </a:xfrm>
        </p:grpSpPr>
        <p:pic>
          <p:nvPicPr>
            <p:cNvPr id="119" name="Google Shape;119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71475" y="476250"/>
              <a:ext cx="19200" cy="2476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17"/>
            <p:cNvSpPr/>
            <p:nvPr/>
          </p:nvSpPr>
          <p:spPr>
            <a:xfrm>
              <a:off x="238125" y="238125"/>
              <a:ext cx="285900" cy="2859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238125" y="23812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FFFFF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   </a:t>
              </a:r>
              <a:r>
                <a:rPr b="0" lang="en" sz="850">
                  <a:solidFill>
                    <a:srgbClr val="FFFFF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1</a:t>
              </a:r>
              <a:endParaRPr b="0" sz="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22" name="Google Shape;122;p17"/>
            <p:cNvSpPr txBox="1"/>
            <p:nvPr/>
          </p:nvSpPr>
          <p:spPr>
            <a:xfrm>
              <a:off x="666750" y="142875"/>
              <a:ext cx="733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EF444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Why?</a:t>
              </a:r>
              <a:endParaRPr sz="119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1B4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Why couldn't users log in?</a:t>
              </a:r>
              <a:endParaRPr b="1" sz="1200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Authentication failed.</a:t>
              </a:r>
              <a:endParaRPr b="0" sz="893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23" name="Google Shape;123;p17"/>
          <p:cNvGrpSpPr/>
          <p:nvPr/>
        </p:nvGrpSpPr>
        <p:grpSpPr>
          <a:xfrm>
            <a:off x="809625" y="2000250"/>
            <a:ext cx="7763025" cy="571500"/>
            <a:chOff x="238125" y="142875"/>
            <a:chExt cx="7763025" cy="571500"/>
          </a:xfrm>
        </p:grpSpPr>
        <p:sp>
          <p:nvSpPr>
            <p:cNvPr id="124" name="Google Shape;124;p17"/>
            <p:cNvSpPr/>
            <p:nvPr/>
          </p:nvSpPr>
          <p:spPr>
            <a:xfrm>
              <a:off x="238125" y="238125"/>
              <a:ext cx="285900" cy="2859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7"/>
            <p:cNvSpPr txBox="1"/>
            <p:nvPr/>
          </p:nvSpPr>
          <p:spPr>
            <a:xfrm>
              <a:off x="238125" y="23812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FFFFF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   </a:t>
              </a:r>
              <a:r>
                <a:rPr b="0" lang="en" sz="850">
                  <a:solidFill>
                    <a:srgbClr val="FFFFF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2</a:t>
              </a:r>
              <a:endParaRPr b="0" sz="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26" name="Google Shape;126;p17"/>
            <p:cNvSpPr txBox="1"/>
            <p:nvPr/>
          </p:nvSpPr>
          <p:spPr>
            <a:xfrm>
              <a:off x="666750" y="142875"/>
              <a:ext cx="733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EF444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Why?</a:t>
              </a:r>
              <a:endParaRPr sz="119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1B4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Why did authentication fail?</a:t>
              </a:r>
              <a:endParaRPr b="1" sz="1200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Identity Provider wasn't validating requests.</a:t>
              </a:r>
              <a:endParaRPr b="0" sz="893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27" name="Google Shape;127;p17"/>
          <p:cNvGrpSpPr/>
          <p:nvPr/>
        </p:nvGrpSpPr>
        <p:grpSpPr>
          <a:xfrm>
            <a:off x="809625" y="2619375"/>
            <a:ext cx="7763025" cy="571500"/>
            <a:chOff x="238125" y="142875"/>
            <a:chExt cx="7763025" cy="571500"/>
          </a:xfrm>
        </p:grpSpPr>
        <p:sp>
          <p:nvSpPr>
            <p:cNvPr id="128" name="Google Shape;128;p17"/>
            <p:cNvSpPr/>
            <p:nvPr/>
          </p:nvSpPr>
          <p:spPr>
            <a:xfrm>
              <a:off x="238125" y="238125"/>
              <a:ext cx="285900" cy="2859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238125" y="23812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FFFFF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   </a:t>
              </a:r>
              <a:r>
                <a:rPr b="0" lang="en" sz="850">
                  <a:solidFill>
                    <a:srgbClr val="FFFFF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3</a:t>
              </a:r>
              <a:endParaRPr b="0" sz="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666750" y="142875"/>
              <a:ext cx="733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EF444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Why?</a:t>
              </a:r>
              <a:endParaRPr sz="119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1B4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Why wasn't it validating requests?</a:t>
              </a:r>
              <a:endParaRPr b="1" sz="1200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SAML configuration became invalid.</a:t>
              </a:r>
              <a:endParaRPr b="0" sz="893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31" name="Google Shape;131;p17"/>
          <p:cNvGrpSpPr/>
          <p:nvPr/>
        </p:nvGrpSpPr>
        <p:grpSpPr>
          <a:xfrm>
            <a:off x="809625" y="3238500"/>
            <a:ext cx="7763025" cy="571500"/>
            <a:chOff x="238125" y="142875"/>
            <a:chExt cx="7763025" cy="571500"/>
          </a:xfrm>
        </p:grpSpPr>
        <p:sp>
          <p:nvSpPr>
            <p:cNvPr id="132" name="Google Shape;132;p17"/>
            <p:cNvSpPr/>
            <p:nvPr/>
          </p:nvSpPr>
          <p:spPr>
            <a:xfrm>
              <a:off x="238125" y="238125"/>
              <a:ext cx="285900" cy="2859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 txBox="1"/>
            <p:nvPr/>
          </p:nvSpPr>
          <p:spPr>
            <a:xfrm>
              <a:off x="238125" y="23812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FFFFF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   </a:t>
              </a:r>
              <a:r>
                <a:rPr b="0" lang="en" sz="850">
                  <a:solidFill>
                    <a:srgbClr val="FFFFF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4</a:t>
              </a:r>
              <a:endParaRPr b="0" sz="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666750" y="142875"/>
              <a:ext cx="733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EF444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Why?</a:t>
              </a:r>
              <a:endParaRPr sz="119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1B4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Why was the SAML configuration invalid?</a:t>
              </a:r>
              <a:endParaRPr b="1" sz="1200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Incorrect metadata was deployed during an update.</a:t>
              </a:r>
              <a:endParaRPr b="0" sz="893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35" name="Google Shape;135;p17"/>
          <p:cNvGrpSpPr/>
          <p:nvPr/>
        </p:nvGrpSpPr>
        <p:grpSpPr>
          <a:xfrm>
            <a:off x="809625" y="3810000"/>
            <a:ext cx="7763025" cy="619200"/>
            <a:chOff x="238125" y="95250"/>
            <a:chExt cx="7763025" cy="619200"/>
          </a:xfrm>
        </p:grpSpPr>
        <p:sp>
          <p:nvSpPr>
            <p:cNvPr id="136" name="Google Shape;136;p17"/>
            <p:cNvSpPr/>
            <p:nvPr/>
          </p:nvSpPr>
          <p:spPr>
            <a:xfrm>
              <a:off x="238125" y="238125"/>
              <a:ext cx="285900" cy="2859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238125" y="23812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FFFFF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   </a:t>
              </a:r>
              <a:r>
                <a:rPr b="0" lang="en" sz="850">
                  <a:solidFill>
                    <a:srgbClr val="FFFFF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5</a:t>
              </a:r>
              <a:endParaRPr b="0" sz="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666750" y="95250"/>
              <a:ext cx="7334400" cy="619200"/>
            </a:xfrm>
            <a:prstGeom prst="roundRect">
              <a:avLst>
                <a:gd fmla="val 12307" name="adj"/>
              </a:avLst>
            </a:prstGeom>
            <a:solidFill>
              <a:srgbClr val="FEF2F2"/>
            </a:solidFill>
            <a:ln cap="flat" cmpd="sng" w="9525">
              <a:solidFill>
                <a:srgbClr val="FEE2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 txBox="1"/>
            <p:nvPr/>
          </p:nvSpPr>
          <p:spPr>
            <a:xfrm>
              <a:off x="809625" y="171450"/>
              <a:ext cx="704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DC262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Root Cause (Why?)</a:t>
              </a:r>
              <a:endParaRPr sz="119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1E1B4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Why was incorrect metadata deployed?</a:t>
              </a:r>
              <a:endParaRPr b="1" sz="935">
                <a:solidFill>
                  <a:srgbClr val="1E1B4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93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No validation or testing before deployment.</a:t>
              </a:r>
              <a:endParaRPr b="1" sz="893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0" name="Google Shape;140;p17"/>
          <p:cNvGrpSpPr/>
          <p:nvPr/>
        </p:nvGrpSpPr>
        <p:grpSpPr>
          <a:xfrm>
            <a:off x="571500" y="4572000"/>
            <a:ext cx="8001000" cy="400200"/>
            <a:chOff x="0" y="0"/>
            <a:chExt cx="8001000" cy="400200"/>
          </a:xfrm>
        </p:grpSpPr>
        <p:cxnSp>
          <p:nvCxnSpPr>
            <p:cNvPr id="141" name="Google Shape;141;p17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2" name="Google Shape;142;p17"/>
            <p:cNvSpPr txBox="1"/>
            <p:nvPr/>
          </p:nvSpPr>
          <p:spPr>
            <a:xfrm>
              <a:off x="0" y="11430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Module 4 – Problem Solving &amp; Root Cause Analysis</a:t>
              </a:r>
              <a:endParaRPr b="0" sz="9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3810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ROOT CAUSE ANALYSIS</a:t>
            </a:r>
            <a:endParaRPr b="0" sz="950">
              <a:solidFill>
                <a:srgbClr val="64748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1E1B4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Root Cause &amp; Contributing Factors</a:t>
            </a:r>
            <a:endParaRPr b="0" sz="2200">
              <a:solidFill>
                <a:srgbClr val="1E1B4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49" name="Google Shape;149;p18"/>
          <p:cNvGrpSpPr/>
          <p:nvPr/>
        </p:nvGrpSpPr>
        <p:grpSpPr>
          <a:xfrm>
            <a:off x="571500" y="1333500"/>
            <a:ext cx="8001000" cy="1143000"/>
            <a:chOff x="0" y="0"/>
            <a:chExt cx="8001000" cy="1143000"/>
          </a:xfrm>
        </p:grpSpPr>
        <p:sp>
          <p:nvSpPr>
            <p:cNvPr id="150" name="Google Shape;150;p18"/>
            <p:cNvSpPr/>
            <p:nvPr/>
          </p:nvSpPr>
          <p:spPr>
            <a:xfrm>
              <a:off x="0" y="0"/>
              <a:ext cx="8001000" cy="1143000"/>
            </a:xfrm>
            <a:prstGeom prst="roundRect">
              <a:avLst>
                <a:gd fmla="val 10000" name="adj"/>
              </a:avLst>
            </a:prstGeom>
            <a:solidFill>
              <a:srgbClr val="FEF2F2"/>
            </a:solidFill>
            <a:ln cap="flat" cmpd="sng" w="14300">
              <a:solidFill>
                <a:srgbClr val="FEE2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8"/>
            <p:cNvSpPr txBox="1"/>
            <p:nvPr/>
          </p:nvSpPr>
          <p:spPr>
            <a:xfrm>
              <a:off x="228600" y="171450"/>
              <a:ext cx="75438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EF444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Primary Root Cause</a:t>
              </a:r>
              <a:endParaRPr b="1" sz="1203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064">
                  <a:solidFill>
                    <a:srgbClr val="1E1B4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Incorrect SAML metadata configuration deployed to production without validation.</a:t>
              </a:r>
              <a:endParaRPr b="0" sz="1064">
                <a:solidFill>
                  <a:srgbClr val="1E1B4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authentication lockout occurred because invalid metadata broke the SAML configuration, disabling the Identity Provider's ability to validate incoming user requests.</a:t>
              </a:r>
              <a:endParaRPr b="0" sz="9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2" name="Google Shape;152;p18"/>
          <p:cNvGrpSpPr/>
          <p:nvPr/>
        </p:nvGrpSpPr>
        <p:grpSpPr>
          <a:xfrm>
            <a:off x="571500" y="2714625"/>
            <a:ext cx="8001000" cy="1666800"/>
            <a:chOff x="0" y="0"/>
            <a:chExt cx="8001000" cy="1666800"/>
          </a:xfrm>
        </p:grpSpPr>
        <p:sp>
          <p:nvSpPr>
            <p:cNvPr id="153" name="Google Shape;153;p18"/>
            <p:cNvSpPr/>
            <p:nvPr/>
          </p:nvSpPr>
          <p:spPr>
            <a:xfrm>
              <a:off x="0" y="0"/>
              <a:ext cx="80010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228600" y="190500"/>
              <a:ext cx="75438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2563E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Contributing Factors</a:t>
              </a:r>
              <a:endParaRPr b="1" sz="1203">
                <a:solidFill>
                  <a:srgbClr val="2563E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87338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34155"/>
                </a:buClr>
                <a:buSzPts val="925"/>
                <a:buFont typeface="Inter"/>
                <a:buChar char="●"/>
              </a:pPr>
              <a:r>
                <a:rPr b="0" lang="en" sz="925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No configuration review prior to execution.</a:t>
              </a:r>
              <a:endParaRPr b="0" sz="925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8733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25"/>
                <a:buFont typeface="Inter"/>
                <a:buChar char="●"/>
              </a:pPr>
              <a:r>
                <a:rPr b="0" lang="en" sz="925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No automated validation mechanisms in the deployment pipeline.</a:t>
              </a:r>
              <a:endParaRPr b="0" sz="925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8733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25"/>
                <a:buFont typeface="Inter"/>
                <a:buChar char="●"/>
              </a:pPr>
              <a:r>
                <a:rPr b="0" lang="en" sz="925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No rollback plan established for quick recovery.</a:t>
              </a:r>
              <a:endParaRPr b="0" sz="925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-287338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925"/>
                <a:buFont typeface="Inter"/>
                <a:buChar char="●"/>
              </a:pPr>
              <a:r>
                <a:rPr b="0" lang="en" sz="925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Limited monitoring and alerts for authentication gateway outages.</a:t>
              </a:r>
              <a:endParaRPr b="0" sz="925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55" name="Google Shape;155;p18"/>
          <p:cNvGrpSpPr/>
          <p:nvPr/>
        </p:nvGrpSpPr>
        <p:grpSpPr>
          <a:xfrm>
            <a:off x="571500" y="4572000"/>
            <a:ext cx="8001000" cy="400200"/>
            <a:chOff x="0" y="0"/>
            <a:chExt cx="8001000" cy="400200"/>
          </a:xfrm>
        </p:grpSpPr>
        <p:cxnSp>
          <p:nvCxnSpPr>
            <p:cNvPr id="156" name="Google Shape;156;p1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7" name="Google Shape;157;p18"/>
            <p:cNvSpPr txBox="1"/>
            <p:nvPr/>
          </p:nvSpPr>
          <p:spPr>
            <a:xfrm>
              <a:off x="0" y="11430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Module 4 – Problem Solving &amp; Root Cause Analysis</a:t>
              </a:r>
              <a:endParaRPr b="0" sz="9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571500" y="3810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CORRECTIVE ACTIONS</a:t>
            </a:r>
            <a:endParaRPr b="0" sz="950">
              <a:solidFill>
                <a:srgbClr val="64748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1E1B4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Immediate Fixes Executed</a:t>
            </a:r>
            <a:endParaRPr b="0" sz="2200">
              <a:solidFill>
                <a:srgbClr val="1E1B4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64" name="Google Shape;164;p19"/>
          <p:cNvGrpSpPr/>
          <p:nvPr/>
        </p:nvGrpSpPr>
        <p:grpSpPr>
          <a:xfrm>
            <a:off x="571500" y="1381125"/>
            <a:ext cx="2476500" cy="952500"/>
            <a:chOff x="0" y="0"/>
            <a:chExt cx="2476500" cy="952500"/>
          </a:xfrm>
        </p:grpSpPr>
        <p:sp>
          <p:nvSpPr>
            <p:cNvPr id="165" name="Google Shape;165;p19"/>
            <p:cNvSpPr/>
            <p:nvPr/>
          </p:nvSpPr>
          <p:spPr>
            <a:xfrm>
              <a:off x="0" y="0"/>
              <a:ext cx="2476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9"/>
            <p:cNvSpPr txBox="1"/>
            <p:nvPr/>
          </p:nvSpPr>
          <p:spPr>
            <a:xfrm>
              <a:off x="190500" y="95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0B9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01</a:t>
              </a:r>
              <a:endParaRPr b="0" sz="1600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Restored correct SAML metadata.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67" name="Google Shape;167;p19"/>
          <p:cNvGrpSpPr/>
          <p:nvPr/>
        </p:nvGrpSpPr>
        <p:grpSpPr>
          <a:xfrm>
            <a:off x="3333750" y="1381125"/>
            <a:ext cx="2476500" cy="952500"/>
            <a:chOff x="0" y="0"/>
            <a:chExt cx="2476500" cy="952500"/>
          </a:xfrm>
        </p:grpSpPr>
        <p:sp>
          <p:nvSpPr>
            <p:cNvPr id="168" name="Google Shape;168;p19"/>
            <p:cNvSpPr/>
            <p:nvPr/>
          </p:nvSpPr>
          <p:spPr>
            <a:xfrm>
              <a:off x="0" y="0"/>
              <a:ext cx="2476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9"/>
            <p:cNvSpPr txBox="1"/>
            <p:nvPr/>
          </p:nvSpPr>
          <p:spPr>
            <a:xfrm>
              <a:off x="190500" y="95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0B9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02</a:t>
              </a:r>
              <a:endParaRPr b="0" sz="1600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Restarted authentication service.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70" name="Google Shape;170;p19"/>
          <p:cNvGrpSpPr/>
          <p:nvPr/>
        </p:nvGrpSpPr>
        <p:grpSpPr>
          <a:xfrm>
            <a:off x="6096000" y="1381125"/>
            <a:ext cx="2476500" cy="952500"/>
            <a:chOff x="0" y="0"/>
            <a:chExt cx="2476500" cy="952500"/>
          </a:xfrm>
        </p:grpSpPr>
        <p:sp>
          <p:nvSpPr>
            <p:cNvPr id="171" name="Google Shape;171;p19"/>
            <p:cNvSpPr/>
            <p:nvPr/>
          </p:nvSpPr>
          <p:spPr>
            <a:xfrm>
              <a:off x="0" y="0"/>
              <a:ext cx="2476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190500" y="95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0B9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03</a:t>
              </a:r>
              <a:endParaRPr b="0" sz="1600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Verified user authentication.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73" name="Google Shape;173;p19"/>
          <p:cNvGrpSpPr/>
          <p:nvPr/>
        </p:nvGrpSpPr>
        <p:grpSpPr>
          <a:xfrm>
            <a:off x="1952625" y="2619375"/>
            <a:ext cx="2476500" cy="952500"/>
            <a:chOff x="0" y="0"/>
            <a:chExt cx="2476500" cy="952500"/>
          </a:xfrm>
        </p:grpSpPr>
        <p:sp>
          <p:nvSpPr>
            <p:cNvPr id="174" name="Google Shape;174;p19"/>
            <p:cNvSpPr/>
            <p:nvPr/>
          </p:nvSpPr>
          <p:spPr>
            <a:xfrm>
              <a:off x="0" y="0"/>
              <a:ext cx="2476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9"/>
            <p:cNvSpPr txBox="1"/>
            <p:nvPr/>
          </p:nvSpPr>
          <p:spPr>
            <a:xfrm>
              <a:off x="190500" y="95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0B9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04</a:t>
              </a:r>
              <a:endParaRPr b="0" sz="1600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Confirmed successful login.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76" name="Google Shape;176;p19"/>
          <p:cNvGrpSpPr/>
          <p:nvPr/>
        </p:nvGrpSpPr>
        <p:grpSpPr>
          <a:xfrm>
            <a:off x="4714875" y="2619375"/>
            <a:ext cx="2476500" cy="952500"/>
            <a:chOff x="0" y="0"/>
            <a:chExt cx="2476500" cy="952500"/>
          </a:xfrm>
        </p:grpSpPr>
        <p:sp>
          <p:nvSpPr>
            <p:cNvPr id="177" name="Google Shape;177;p19"/>
            <p:cNvSpPr/>
            <p:nvPr/>
          </p:nvSpPr>
          <p:spPr>
            <a:xfrm>
              <a:off x="0" y="0"/>
              <a:ext cx="2476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9"/>
            <p:cNvSpPr txBox="1"/>
            <p:nvPr/>
          </p:nvSpPr>
          <p:spPr>
            <a:xfrm>
              <a:off x="190500" y="95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0B9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05</a:t>
              </a:r>
              <a:endParaRPr b="0" sz="1600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Monitored authentication logs.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79" name="Google Shape;179;p19"/>
          <p:cNvGrpSpPr/>
          <p:nvPr/>
        </p:nvGrpSpPr>
        <p:grpSpPr>
          <a:xfrm>
            <a:off x="571500" y="4000500"/>
            <a:ext cx="8001000" cy="400200"/>
            <a:chOff x="0" y="0"/>
            <a:chExt cx="8001000" cy="400200"/>
          </a:xfrm>
        </p:grpSpPr>
        <p:cxnSp>
          <p:nvCxnSpPr>
            <p:cNvPr id="180" name="Google Shape;180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1" name="Google Shape;181;p19"/>
            <p:cNvSpPr txBox="1"/>
            <p:nvPr/>
          </p:nvSpPr>
          <p:spPr>
            <a:xfrm>
              <a:off x="0" y="11430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Module 4 – Problem Solving &amp; Root Cause Analysis</a:t>
              </a:r>
              <a:endParaRPr b="0" sz="9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71500" y="3810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PREVENTIVE ACTIONS</a:t>
            </a:r>
            <a:endParaRPr b="0" sz="950">
              <a:solidFill>
                <a:srgbClr val="64748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1E1B4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Recommended Safeguards</a:t>
            </a:r>
            <a:endParaRPr b="0" sz="2200">
              <a:solidFill>
                <a:srgbClr val="1E1B4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88" name="Google Shape;188;p20"/>
          <p:cNvGrpSpPr/>
          <p:nvPr/>
        </p:nvGrpSpPr>
        <p:grpSpPr>
          <a:xfrm>
            <a:off x="571500" y="1333500"/>
            <a:ext cx="2476500" cy="952500"/>
            <a:chOff x="0" y="0"/>
            <a:chExt cx="2476500" cy="952500"/>
          </a:xfrm>
        </p:grpSpPr>
        <p:sp>
          <p:nvSpPr>
            <p:cNvPr id="189" name="Google Shape;189;p20"/>
            <p:cNvSpPr/>
            <p:nvPr/>
          </p:nvSpPr>
          <p:spPr>
            <a:xfrm>
              <a:off x="0" y="0"/>
              <a:ext cx="2476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190500" y="95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0B9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01</a:t>
              </a:r>
              <a:endParaRPr b="0" sz="1400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Peer review all configuration changes.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91" name="Google Shape;191;p20"/>
          <p:cNvGrpSpPr/>
          <p:nvPr/>
        </p:nvGrpSpPr>
        <p:grpSpPr>
          <a:xfrm>
            <a:off x="3333750" y="1333500"/>
            <a:ext cx="2476500" cy="952500"/>
            <a:chOff x="0" y="0"/>
            <a:chExt cx="2476500" cy="952500"/>
          </a:xfrm>
        </p:grpSpPr>
        <p:sp>
          <p:nvSpPr>
            <p:cNvPr id="192" name="Google Shape;192;p20"/>
            <p:cNvSpPr/>
            <p:nvPr/>
          </p:nvSpPr>
          <p:spPr>
            <a:xfrm>
              <a:off x="0" y="0"/>
              <a:ext cx="2476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0"/>
            <p:cNvSpPr txBox="1"/>
            <p:nvPr/>
          </p:nvSpPr>
          <p:spPr>
            <a:xfrm>
              <a:off x="190500" y="95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0B9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02</a:t>
              </a:r>
              <a:endParaRPr b="0" sz="1400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Validate SAML metadata before deployment.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94" name="Google Shape;194;p20"/>
          <p:cNvGrpSpPr/>
          <p:nvPr/>
        </p:nvGrpSpPr>
        <p:grpSpPr>
          <a:xfrm>
            <a:off x="6096000" y="1333500"/>
            <a:ext cx="2476500" cy="952500"/>
            <a:chOff x="0" y="0"/>
            <a:chExt cx="2476500" cy="952500"/>
          </a:xfrm>
        </p:grpSpPr>
        <p:sp>
          <p:nvSpPr>
            <p:cNvPr id="195" name="Google Shape;195;p20"/>
            <p:cNvSpPr/>
            <p:nvPr/>
          </p:nvSpPr>
          <p:spPr>
            <a:xfrm>
              <a:off x="0" y="0"/>
              <a:ext cx="2476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0"/>
            <p:cNvSpPr txBox="1"/>
            <p:nvPr/>
          </p:nvSpPr>
          <p:spPr>
            <a:xfrm>
              <a:off x="190500" y="95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0B9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03</a:t>
              </a:r>
              <a:endParaRPr b="0" sz="1400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Use a staging environment for validation.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97" name="Google Shape;197;p20"/>
          <p:cNvGrpSpPr/>
          <p:nvPr/>
        </p:nvGrpSpPr>
        <p:grpSpPr>
          <a:xfrm>
            <a:off x="571500" y="2476500"/>
            <a:ext cx="1762200" cy="952500"/>
            <a:chOff x="0" y="0"/>
            <a:chExt cx="1762200" cy="952500"/>
          </a:xfrm>
        </p:grpSpPr>
        <p:sp>
          <p:nvSpPr>
            <p:cNvPr id="198" name="Google Shape;198;p20"/>
            <p:cNvSpPr/>
            <p:nvPr/>
          </p:nvSpPr>
          <p:spPr>
            <a:xfrm>
              <a:off x="0" y="0"/>
              <a:ext cx="17622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0"/>
            <p:cNvSpPr txBox="1"/>
            <p:nvPr/>
          </p:nvSpPr>
          <p:spPr>
            <a:xfrm>
              <a:off x="142875" y="95250"/>
              <a:ext cx="14763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0B9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04</a:t>
              </a:r>
              <a:endParaRPr b="0" sz="1400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Implement automated testing.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00" name="Google Shape;200;p20"/>
          <p:cNvGrpSpPr/>
          <p:nvPr/>
        </p:nvGrpSpPr>
        <p:grpSpPr>
          <a:xfrm>
            <a:off x="2524125" y="2476500"/>
            <a:ext cx="2000100" cy="952500"/>
            <a:chOff x="0" y="0"/>
            <a:chExt cx="2000100" cy="952500"/>
          </a:xfrm>
        </p:grpSpPr>
        <p:sp>
          <p:nvSpPr>
            <p:cNvPr id="201" name="Google Shape;201;p20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0"/>
            <p:cNvSpPr txBox="1"/>
            <p:nvPr/>
          </p:nvSpPr>
          <p:spPr>
            <a:xfrm>
              <a:off x="142875" y="95250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0B9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05</a:t>
              </a:r>
              <a:endParaRPr b="0" sz="1400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Enable continuous performance monitoring.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03" name="Google Shape;203;p20"/>
          <p:cNvGrpSpPr/>
          <p:nvPr/>
        </p:nvGrpSpPr>
        <p:grpSpPr>
          <a:xfrm>
            <a:off x="4714875" y="2476500"/>
            <a:ext cx="1857300" cy="952500"/>
            <a:chOff x="0" y="0"/>
            <a:chExt cx="1857300" cy="952500"/>
          </a:xfrm>
        </p:grpSpPr>
        <p:sp>
          <p:nvSpPr>
            <p:cNvPr id="204" name="Google Shape;204;p20"/>
            <p:cNvSpPr/>
            <p:nvPr/>
          </p:nvSpPr>
          <p:spPr>
            <a:xfrm>
              <a:off x="0" y="0"/>
              <a:ext cx="18573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0"/>
            <p:cNvSpPr txBox="1"/>
            <p:nvPr/>
          </p:nvSpPr>
          <p:spPr>
            <a:xfrm>
              <a:off x="142875" y="95250"/>
              <a:ext cx="15717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0B9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06</a:t>
              </a:r>
              <a:endParaRPr b="0" sz="1400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Maintain rapid rollback procedures.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06" name="Google Shape;206;p20"/>
          <p:cNvGrpSpPr/>
          <p:nvPr/>
        </p:nvGrpSpPr>
        <p:grpSpPr>
          <a:xfrm>
            <a:off x="6762750" y="2476500"/>
            <a:ext cx="1809600" cy="952500"/>
            <a:chOff x="0" y="0"/>
            <a:chExt cx="1809600" cy="952500"/>
          </a:xfrm>
        </p:grpSpPr>
        <p:sp>
          <p:nvSpPr>
            <p:cNvPr id="207" name="Google Shape;207;p20"/>
            <p:cNvSpPr/>
            <p:nvPr/>
          </p:nvSpPr>
          <p:spPr>
            <a:xfrm>
              <a:off x="0" y="0"/>
              <a:ext cx="18096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0"/>
            <p:cNvSpPr txBox="1"/>
            <p:nvPr/>
          </p:nvSpPr>
          <p:spPr>
            <a:xfrm>
              <a:off x="142875" y="9525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0B9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07</a:t>
              </a:r>
              <a:endParaRPr b="0" sz="1400">
                <a:solidFill>
                  <a:srgbClr val="10B98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Document all configuration changes.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09" name="Google Shape;209;p20"/>
          <p:cNvGrpSpPr/>
          <p:nvPr/>
        </p:nvGrpSpPr>
        <p:grpSpPr>
          <a:xfrm>
            <a:off x="571500" y="4000500"/>
            <a:ext cx="8001000" cy="400200"/>
            <a:chOff x="0" y="0"/>
            <a:chExt cx="8001000" cy="400200"/>
          </a:xfrm>
        </p:grpSpPr>
        <p:cxnSp>
          <p:nvCxnSpPr>
            <p:cNvPr id="210" name="Google Shape;210;p20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1" name="Google Shape;211;p20"/>
            <p:cNvSpPr txBox="1"/>
            <p:nvPr/>
          </p:nvSpPr>
          <p:spPr>
            <a:xfrm>
              <a:off x="0" y="11430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Module 4 – Problem Solving &amp; Root Cause Analysis</a:t>
              </a:r>
              <a:endParaRPr b="0" sz="9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571500" y="3810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</a:t>
            </a:r>
            <a:endParaRPr b="0" sz="950">
              <a:solidFill>
                <a:srgbClr val="64748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1E1B4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Key Takeaways &amp; Next Steps</a:t>
            </a:r>
            <a:endParaRPr b="0" sz="2200">
              <a:solidFill>
                <a:srgbClr val="1E1B4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218" name="Google Shape;218;p21"/>
          <p:cNvGrpSpPr/>
          <p:nvPr/>
        </p:nvGrpSpPr>
        <p:grpSpPr>
          <a:xfrm>
            <a:off x="571500" y="1333500"/>
            <a:ext cx="4191000" cy="495300"/>
            <a:chOff x="0" y="0"/>
            <a:chExt cx="4191000" cy="495300"/>
          </a:xfrm>
        </p:grpSpPr>
        <p:sp>
          <p:nvSpPr>
            <p:cNvPr id="219" name="Google Shape;219;p21"/>
            <p:cNvSpPr/>
            <p:nvPr/>
          </p:nvSpPr>
          <p:spPr>
            <a:xfrm>
              <a:off x="0" y="0"/>
              <a:ext cx="4191000" cy="495300"/>
            </a:xfrm>
            <a:prstGeom prst="roundRect">
              <a:avLst>
                <a:gd fmla="val 1923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1"/>
            <p:cNvSpPr txBox="1"/>
            <p:nvPr/>
          </p:nvSpPr>
          <p:spPr>
            <a:xfrm>
              <a:off x="142875" y="0"/>
              <a:ext cx="3905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0B9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01  </a:t>
              </a: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Used structured troubleshooting during the incident.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21" name="Google Shape;221;p21"/>
          <p:cNvGrpSpPr/>
          <p:nvPr/>
        </p:nvGrpSpPr>
        <p:grpSpPr>
          <a:xfrm>
            <a:off x="571500" y="1924050"/>
            <a:ext cx="4191000" cy="495300"/>
            <a:chOff x="0" y="0"/>
            <a:chExt cx="4191000" cy="495300"/>
          </a:xfrm>
        </p:grpSpPr>
        <p:sp>
          <p:nvSpPr>
            <p:cNvPr id="222" name="Google Shape;222;p21"/>
            <p:cNvSpPr/>
            <p:nvPr/>
          </p:nvSpPr>
          <p:spPr>
            <a:xfrm>
              <a:off x="0" y="0"/>
              <a:ext cx="4191000" cy="495300"/>
            </a:xfrm>
            <a:prstGeom prst="roundRect">
              <a:avLst>
                <a:gd fmla="val 1923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1"/>
            <p:cNvSpPr txBox="1"/>
            <p:nvPr/>
          </p:nvSpPr>
          <p:spPr>
            <a:xfrm>
              <a:off x="142875" y="0"/>
              <a:ext cx="3905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0B9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02  </a:t>
              </a: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Applied the rigorous 5 Whys technique.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24" name="Google Shape;224;p21"/>
          <p:cNvGrpSpPr/>
          <p:nvPr/>
        </p:nvGrpSpPr>
        <p:grpSpPr>
          <a:xfrm>
            <a:off x="571500" y="2514600"/>
            <a:ext cx="4191000" cy="495300"/>
            <a:chOff x="0" y="0"/>
            <a:chExt cx="4191000" cy="495300"/>
          </a:xfrm>
        </p:grpSpPr>
        <p:sp>
          <p:nvSpPr>
            <p:cNvPr id="225" name="Google Shape;225;p21"/>
            <p:cNvSpPr/>
            <p:nvPr/>
          </p:nvSpPr>
          <p:spPr>
            <a:xfrm>
              <a:off x="0" y="0"/>
              <a:ext cx="4191000" cy="495300"/>
            </a:xfrm>
            <a:prstGeom prst="roundRect">
              <a:avLst>
                <a:gd fmla="val 1923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1"/>
            <p:cNvSpPr txBox="1"/>
            <p:nvPr/>
          </p:nvSpPr>
          <p:spPr>
            <a:xfrm>
              <a:off x="142875" y="0"/>
              <a:ext cx="3905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0B9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03  </a:t>
              </a: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Identified the true systemic root cause.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27" name="Google Shape;227;p21"/>
          <p:cNvGrpSpPr/>
          <p:nvPr/>
        </p:nvGrpSpPr>
        <p:grpSpPr>
          <a:xfrm>
            <a:off x="571500" y="3105150"/>
            <a:ext cx="4191000" cy="495300"/>
            <a:chOff x="0" y="0"/>
            <a:chExt cx="4191000" cy="495300"/>
          </a:xfrm>
        </p:grpSpPr>
        <p:sp>
          <p:nvSpPr>
            <p:cNvPr id="228" name="Google Shape;228;p21"/>
            <p:cNvSpPr/>
            <p:nvPr/>
          </p:nvSpPr>
          <p:spPr>
            <a:xfrm>
              <a:off x="0" y="0"/>
              <a:ext cx="4191000" cy="495300"/>
            </a:xfrm>
            <a:prstGeom prst="roundRect">
              <a:avLst>
                <a:gd fmla="val 1923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1"/>
            <p:cNvSpPr txBox="1"/>
            <p:nvPr/>
          </p:nvSpPr>
          <p:spPr>
            <a:xfrm>
              <a:off x="142875" y="0"/>
              <a:ext cx="3905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0B9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04  </a:t>
              </a: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Implemented immediate corrective actions.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30" name="Google Shape;230;p21"/>
          <p:cNvGrpSpPr/>
          <p:nvPr/>
        </p:nvGrpSpPr>
        <p:grpSpPr>
          <a:xfrm>
            <a:off x="571500" y="3695700"/>
            <a:ext cx="4191000" cy="495300"/>
            <a:chOff x="0" y="0"/>
            <a:chExt cx="4191000" cy="495300"/>
          </a:xfrm>
        </p:grpSpPr>
        <p:sp>
          <p:nvSpPr>
            <p:cNvPr id="231" name="Google Shape;231;p21"/>
            <p:cNvSpPr/>
            <p:nvPr/>
          </p:nvSpPr>
          <p:spPr>
            <a:xfrm>
              <a:off x="0" y="0"/>
              <a:ext cx="4191000" cy="495300"/>
            </a:xfrm>
            <a:prstGeom prst="roundRect">
              <a:avLst>
                <a:gd fmla="val 1923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1"/>
            <p:cNvSpPr txBox="1"/>
            <p:nvPr/>
          </p:nvSpPr>
          <p:spPr>
            <a:xfrm>
              <a:off x="142875" y="0"/>
              <a:ext cx="3905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0B981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05  </a:t>
              </a:r>
              <a:r>
                <a:rPr b="0" lang="en" sz="105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Recommended preventive strategic improvements.</a:t>
              </a:r>
              <a:endParaRPr b="0" sz="105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33" name="Google Shape;233;p21"/>
          <p:cNvGrpSpPr/>
          <p:nvPr/>
        </p:nvGrpSpPr>
        <p:grpSpPr>
          <a:xfrm>
            <a:off x="4953000" y="1333500"/>
            <a:ext cx="3619500" cy="1285800"/>
            <a:chOff x="0" y="0"/>
            <a:chExt cx="3619500" cy="1285800"/>
          </a:xfrm>
        </p:grpSpPr>
        <p:sp>
          <p:nvSpPr>
            <p:cNvPr id="234" name="Google Shape;234;p21"/>
            <p:cNvSpPr/>
            <p:nvPr/>
          </p:nvSpPr>
          <p:spPr>
            <a:xfrm>
              <a:off x="0" y="0"/>
              <a:ext cx="3619500" cy="1285800"/>
            </a:xfrm>
            <a:prstGeom prst="roundRect">
              <a:avLst>
                <a:gd fmla="val 8888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leek, minimalist corporate office or collaborative workspace setting, symbolizing post-incident resolution and team synergy, clean aesthetic with cool tones." id="235" name="Google Shape;235;p21"/>
            <p:cNvPicPr preferRelativeResize="0"/>
            <p:nvPr/>
          </p:nvPicPr>
          <p:blipFill rotWithShape="1">
            <a:blip r:embed="rId3">
              <a:alphaModFix/>
            </a:blip>
            <a:srcRect b="18417" l="0" r="0" t="18424"/>
            <a:stretch/>
          </p:blipFill>
          <p:spPr>
            <a:xfrm>
              <a:off x="0" y="0"/>
              <a:ext cx="3619500" cy="1285800"/>
            </a:xfrm>
            <a:prstGeom prst="roundRect">
              <a:avLst>
                <a:gd fmla="val 8888" name="adj"/>
              </a:avLst>
            </a:prstGeom>
            <a:noFill/>
            <a:ln>
              <a:noFill/>
            </a:ln>
          </p:spPr>
        </p:pic>
        <p:sp>
          <p:nvSpPr>
            <p:cNvPr id="236" name="Google Shape;236;p21"/>
            <p:cNvSpPr/>
            <p:nvPr/>
          </p:nvSpPr>
          <p:spPr>
            <a:xfrm>
              <a:off x="0" y="0"/>
              <a:ext cx="3619500" cy="1285800"/>
            </a:xfrm>
            <a:prstGeom prst="roundRect">
              <a:avLst>
                <a:gd fmla="val 8888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" name="Google Shape;237;p21"/>
          <p:cNvGrpSpPr/>
          <p:nvPr/>
        </p:nvGrpSpPr>
        <p:grpSpPr>
          <a:xfrm>
            <a:off x="4953000" y="2809875"/>
            <a:ext cx="3619500" cy="1381200"/>
            <a:chOff x="0" y="0"/>
            <a:chExt cx="3619500" cy="1381200"/>
          </a:xfrm>
        </p:grpSpPr>
        <p:sp>
          <p:nvSpPr>
            <p:cNvPr id="238" name="Google Shape;238;p21"/>
            <p:cNvSpPr/>
            <p:nvPr/>
          </p:nvSpPr>
          <p:spPr>
            <a:xfrm>
              <a:off x="0" y="0"/>
              <a:ext cx="3619500" cy="1381200"/>
            </a:xfrm>
            <a:prstGeom prst="roundRect">
              <a:avLst>
                <a:gd fmla="val 8275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1"/>
            <p:cNvSpPr txBox="1"/>
            <p:nvPr/>
          </p:nvSpPr>
          <p:spPr>
            <a:xfrm>
              <a:off x="238125" y="190500"/>
              <a:ext cx="31434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1E1B4B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Thank You!</a:t>
              </a:r>
              <a:endParaRPr b="0" sz="1800">
                <a:solidFill>
                  <a:srgbClr val="1E1B4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1E1B4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Any Questions or Comments?</a:t>
              </a:r>
              <a:endParaRPr b="0" sz="10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0" name="Google Shape;240;p21"/>
          <p:cNvGrpSpPr/>
          <p:nvPr/>
        </p:nvGrpSpPr>
        <p:grpSpPr>
          <a:xfrm>
            <a:off x="571500" y="4572000"/>
            <a:ext cx="8001000" cy="400200"/>
            <a:chOff x="0" y="0"/>
            <a:chExt cx="8001000" cy="400200"/>
          </a:xfrm>
        </p:grpSpPr>
        <p:cxnSp>
          <p:nvCxnSpPr>
            <p:cNvPr id="241" name="Google Shape;241;p21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2" name="Google Shape;242;p21"/>
            <p:cNvSpPr txBox="1"/>
            <p:nvPr/>
          </p:nvSpPr>
          <p:spPr>
            <a:xfrm>
              <a:off x="0" y="11430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Module 4 – Problem Solving &amp; Root Cause Analysis</a:t>
              </a:r>
              <a:endParaRPr b="0" sz="9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