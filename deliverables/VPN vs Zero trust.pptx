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oboto ExtraBold"/>
      <p:bold r:id="rId16"/>
      <p:boldItalic r:id="rId17"/>
    </p:embeddedFont>
    <p:embeddedFont>
      <p:font typeface="Roboto Black"/>
      <p:bold r:id="rId18"/>
      <p:boldItalic r:id="rId19"/>
    </p:embeddedFont>
    <p:embeddedFont>
      <p:font typeface="Roboto"/>
      <p:regular r:id="rId20"/>
      <p:bold r:id="rId21"/>
      <p:italic r:id="rId22"/>
      <p:boldItalic r:id="rId23"/>
    </p:embeddedFont>
    <p:embeddedFont>
      <p:font typeface="Roboto Medium"/>
      <p:regular r:id="rId24"/>
      <p:bold r:id="rId25"/>
      <p:italic r:id="rId26"/>
      <p:boldItalic r:id="rId27"/>
    </p:embeddedFont>
    <p:embeddedFont>
      <p:font typeface="Roboto SemiBold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22" Type="http://schemas.openxmlformats.org/officeDocument/2006/relationships/font" Target="fonts/Roboto-italic.fntdata"/><Relationship Id="rId21" Type="http://schemas.openxmlformats.org/officeDocument/2006/relationships/font" Target="fonts/Roboto-bold.fntdata"/><Relationship Id="rId24" Type="http://schemas.openxmlformats.org/officeDocument/2006/relationships/font" Target="fonts/RobotoMedium-regular.fntdata"/><Relationship Id="rId23" Type="http://schemas.openxmlformats.org/officeDocument/2006/relationships/font" Target="fonts/Robo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edium-italic.fntdata"/><Relationship Id="rId25" Type="http://schemas.openxmlformats.org/officeDocument/2006/relationships/font" Target="fonts/RobotoMedium-bold.fntdata"/><Relationship Id="rId28" Type="http://schemas.openxmlformats.org/officeDocument/2006/relationships/font" Target="fonts/RobotoSemiBold-regular.fntdata"/><Relationship Id="rId27" Type="http://schemas.openxmlformats.org/officeDocument/2006/relationships/font" Target="fonts/RobotoMedium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SemiBo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SemiBold-boldItalic.fntdata"/><Relationship Id="rId30" Type="http://schemas.openxmlformats.org/officeDocument/2006/relationships/font" Target="fonts/RobotoSemiBold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ExtraBold-boldItalic.fntdata"/><Relationship Id="rId16" Type="http://schemas.openxmlformats.org/officeDocument/2006/relationships/font" Target="fonts/RobotoExtraBold-bold.fntdata"/><Relationship Id="rId19" Type="http://schemas.openxmlformats.org/officeDocument/2006/relationships/font" Target="fonts/RobotoBlack-boldItalic.fntdata"/><Relationship Id="rId18" Type="http://schemas.openxmlformats.org/officeDocument/2006/relationships/font" Target="fonts/RobotoBlack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08b6b049e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f08b6b049e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f08b6b049e_0_3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f08b6b049e_0_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08b6b049e_0_4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f08b6b049e_0_4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f08b6b049e_0_6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f08b6b049e_0_6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08b6b049e_0_10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f08b6b049e_0_10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f08b6b049e_0_8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f08b6b049e_0_8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f08b6b049e_0_1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f08b6b049e_0_1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f08b6b049e_0_14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f08b6b049e_0_14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f08b6b049e_0_15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3f08b6b049e_0_15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f08b6b049e_0_17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3f08b6b049e_0_17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08b6b049e_6_0)">
  <p:cSld name="Generated (g3f08b6b049e_6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jpg"/><Relationship Id="rId4" Type="http://schemas.openxmlformats.org/officeDocument/2006/relationships/image" Target="../media/image2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9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0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jpg"/><Relationship Id="rId4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4"/>
          <p:cNvSpPr txBox="1"/>
          <p:nvPr/>
        </p:nvSpPr>
        <p:spPr>
          <a:xfrm>
            <a:off x="476250" y="394775"/>
            <a:ext cx="8191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200">
                <a:solidFill>
                  <a:srgbClr val="0F172A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Difference Between VPN &amp; Zero Trust</a:t>
            </a:r>
            <a:endParaRPr b="0" sz="1400">
              <a:solidFill>
                <a:srgbClr val="47556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57" name="Google Shape;57;p14"/>
          <p:cNvGrpSpPr/>
          <p:nvPr/>
        </p:nvGrpSpPr>
        <p:grpSpPr>
          <a:xfrm>
            <a:off x="476250" y="1571625"/>
            <a:ext cx="3952800" cy="2809875"/>
            <a:chOff x="0" y="0"/>
            <a:chExt cx="3952800" cy="2809875"/>
          </a:xfrm>
        </p:grpSpPr>
        <p:sp>
          <p:nvSpPr>
            <p:cNvPr id="58" name="Google Shape;58;p14"/>
            <p:cNvSpPr/>
            <p:nvPr/>
          </p:nvSpPr>
          <p:spPr>
            <a:xfrm>
              <a:off x="0" y="0"/>
              <a:ext cx="3952800" cy="2667000"/>
            </a:xfrm>
            <a:prstGeom prst="roundRect">
              <a:avLst>
                <a:gd fmla="val 5714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A highly stylized dark visual showing a single direct blue and green glowing corporate network tunnel with a secure padlock, symbolizing broad network perimeter access." id="59" name="Google Shape;59;p14"/>
            <p:cNvPicPr preferRelativeResize="0"/>
            <p:nvPr/>
          </p:nvPicPr>
          <p:blipFill rotWithShape="1">
            <a:blip r:embed="rId3">
              <a:alphaModFix/>
            </a:blip>
            <a:srcRect b="21815" l="0" r="0" t="21815"/>
            <a:stretch/>
          </p:blipFill>
          <p:spPr>
            <a:xfrm>
              <a:off x="23813" y="23813"/>
              <a:ext cx="3905400" cy="1238400"/>
            </a:xfrm>
            <a:prstGeom prst="roundRect">
              <a:avLst>
                <a:gd fmla="val 9230" name="adj"/>
              </a:avLst>
            </a:prstGeom>
            <a:noFill/>
            <a:ln>
              <a:noFill/>
            </a:ln>
          </p:spPr>
        </p:pic>
        <p:sp>
          <p:nvSpPr>
            <p:cNvPr id="60" name="Google Shape;60;p14"/>
            <p:cNvSpPr/>
            <p:nvPr/>
          </p:nvSpPr>
          <p:spPr>
            <a:xfrm>
              <a:off x="23813" y="23813"/>
              <a:ext cx="3905400" cy="1238400"/>
            </a:xfrm>
            <a:prstGeom prst="roundRect">
              <a:avLst>
                <a:gd fmla="val 9230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14"/>
            <p:cNvSpPr txBox="1"/>
            <p:nvPr/>
          </p:nvSpPr>
          <p:spPr>
            <a:xfrm>
              <a:off x="280750" y="1666875"/>
              <a:ext cx="35718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E2E8F0"/>
                  </a:solidFill>
                  <a:highlight>
                    <a:srgbClr val="334155"/>
                  </a:highlight>
                  <a:latin typeface="Roboto"/>
                  <a:ea typeface="Roboto"/>
                  <a:cs typeface="Roboto"/>
                  <a:sym typeface="Roboto"/>
                </a:rPr>
                <a:t>Traditional VPN</a:t>
              </a:r>
              <a:endParaRPr/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FFFFFF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Perimeter-Based Tunnel</a:t>
              </a:r>
              <a:endParaRPr b="0" sz="100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2" name="Google Shape;62;p14"/>
          <p:cNvGrpSpPr/>
          <p:nvPr/>
        </p:nvGrpSpPr>
        <p:grpSpPr>
          <a:xfrm>
            <a:off x="4714875" y="1571625"/>
            <a:ext cx="3952800" cy="2702725"/>
            <a:chOff x="0" y="0"/>
            <a:chExt cx="3952800" cy="2702725"/>
          </a:xfrm>
        </p:grpSpPr>
        <p:sp>
          <p:nvSpPr>
            <p:cNvPr id="63" name="Google Shape;63;p14"/>
            <p:cNvSpPr/>
            <p:nvPr/>
          </p:nvSpPr>
          <p:spPr>
            <a:xfrm>
              <a:off x="0" y="0"/>
              <a:ext cx="3952800" cy="2667000"/>
            </a:xfrm>
            <a:prstGeom prst="roundRect">
              <a:avLst>
                <a:gd fmla="val 5714" name="adj"/>
              </a:avLst>
            </a:prstGeom>
            <a:solidFill>
              <a:srgbClr val="0B254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A vibrant blue high-tech security visualization showing multiple granular micro-connections to independent secure apps, symbolizing modern zero trust continuous verification." id="64" name="Google Shape;64;p14"/>
            <p:cNvPicPr preferRelativeResize="0"/>
            <p:nvPr/>
          </p:nvPicPr>
          <p:blipFill rotWithShape="1">
            <a:blip r:embed="rId4">
              <a:alphaModFix/>
            </a:blip>
            <a:srcRect b="21815" l="0" r="0" t="21815"/>
            <a:stretch/>
          </p:blipFill>
          <p:spPr>
            <a:xfrm>
              <a:off x="23813" y="23813"/>
              <a:ext cx="3905400" cy="1238400"/>
            </a:xfrm>
            <a:prstGeom prst="roundRect">
              <a:avLst>
                <a:gd fmla="val 9230" name="adj"/>
              </a:avLst>
            </a:prstGeom>
            <a:noFill/>
            <a:ln>
              <a:noFill/>
            </a:ln>
          </p:spPr>
        </p:pic>
        <p:sp>
          <p:nvSpPr>
            <p:cNvPr id="65" name="Google Shape;65;p14"/>
            <p:cNvSpPr/>
            <p:nvPr/>
          </p:nvSpPr>
          <p:spPr>
            <a:xfrm>
              <a:off x="23813" y="23813"/>
              <a:ext cx="3905400" cy="1238400"/>
            </a:xfrm>
            <a:prstGeom prst="roundRect">
              <a:avLst>
                <a:gd fmla="val 9230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13407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14"/>
            <p:cNvSpPr txBox="1"/>
            <p:nvPr/>
          </p:nvSpPr>
          <p:spPr>
            <a:xfrm>
              <a:off x="357425" y="1655125"/>
              <a:ext cx="3571800" cy="104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F0F9FF"/>
                  </a:solidFill>
                  <a:highlight>
                    <a:srgbClr val="134074"/>
                  </a:highlight>
                  <a:latin typeface="Roboto"/>
                  <a:ea typeface="Roboto"/>
                  <a:cs typeface="Roboto"/>
                  <a:sym typeface="Roboto"/>
                </a:rPr>
                <a:t>Zero Trust Architecture</a:t>
              </a:r>
              <a:endParaRPr/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FFFFFF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Continuous Micro-Verification</a:t>
              </a:r>
              <a:endParaRPr b="0" sz="100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67" name="Google Shape;67;p14"/>
          <p:cNvCxnSpPr/>
          <p:nvPr/>
        </p:nvCxnSpPr>
        <p:spPr>
          <a:xfrm>
            <a:off x="476250" y="4524375"/>
            <a:ext cx="81915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" name="Google Shape;68;p14"/>
          <p:cNvSpPr txBox="1"/>
          <p:nvPr/>
        </p:nvSpPr>
        <p:spPr>
          <a:xfrm>
            <a:off x="476250" y="4667250"/>
            <a:ext cx="2667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LAB</a:t>
            </a:r>
            <a:endParaRPr b="1" sz="1000">
              <a:solidFill>
                <a:srgbClr val="64748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0F172A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Cross Functional Learning Lab</a:t>
            </a:r>
            <a:endParaRPr b="0" sz="1200">
              <a:solidFill>
                <a:srgbClr val="0F172A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3905250" y="466725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PRESENTER</a:t>
            </a:r>
            <a:endParaRPr b="1" sz="1000">
              <a:solidFill>
                <a:srgbClr val="64748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15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0F172A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Baishnabi Samal</a:t>
            </a:r>
            <a:endParaRPr b="0" sz="1200">
              <a:solidFill>
                <a:srgbClr val="0F172A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6762750" y="466725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DATE</a:t>
            </a:r>
            <a:endParaRPr b="1" sz="1000">
              <a:solidFill>
                <a:srgbClr val="64748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15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0F172A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July </a:t>
            </a:r>
            <a:r>
              <a:rPr lang="en" sz="1200">
                <a:solidFill>
                  <a:srgbClr val="0F172A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2</a:t>
            </a:r>
            <a:r>
              <a:rPr b="0" lang="en" sz="1200">
                <a:solidFill>
                  <a:srgbClr val="0F172A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, 2026</a:t>
            </a:r>
            <a:endParaRPr b="0" sz="1200">
              <a:solidFill>
                <a:srgbClr val="0F172A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5"/>
          <p:cNvSpPr txBox="1"/>
          <p:nvPr/>
        </p:nvSpPr>
        <p:spPr>
          <a:xfrm>
            <a:off x="476250" y="333375"/>
            <a:ext cx="81915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600">
                <a:solidFill>
                  <a:srgbClr val="0F172A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Agenda</a:t>
            </a:r>
            <a:endParaRPr b="0" sz="2600">
              <a:solidFill>
                <a:srgbClr val="0F172A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111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Overview of the session modules covering modern network security paradigms.</a:t>
            </a:r>
            <a:endParaRPr b="0" sz="1110">
              <a:solidFill>
                <a:srgbClr val="47556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77" name="Google Shape;77;p15"/>
          <p:cNvGrpSpPr/>
          <p:nvPr/>
        </p:nvGrpSpPr>
        <p:grpSpPr>
          <a:xfrm>
            <a:off x="476250" y="1238250"/>
            <a:ext cx="1905000" cy="1428900"/>
            <a:chOff x="0" y="0"/>
            <a:chExt cx="1905000" cy="1428900"/>
          </a:xfrm>
        </p:grpSpPr>
        <p:pic>
          <p:nvPicPr>
            <p:cNvPr id="78" name="Google Shape;78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1905000" cy="1428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" name="Google Shape;79;p15"/>
            <p:cNvSpPr txBox="1"/>
            <p:nvPr/>
          </p:nvSpPr>
          <p:spPr>
            <a:xfrm>
              <a:off x="142875" y="142875"/>
              <a:ext cx="16191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220">
                  <a:solidFill>
                    <a:srgbClr val="38BDF8"/>
                  </a:solidFill>
                  <a:latin typeface="Roboto Black"/>
                  <a:ea typeface="Roboto Black"/>
                  <a:cs typeface="Roboto Black"/>
                  <a:sym typeface="Roboto Black"/>
                </a:rPr>
                <a:t>01</a:t>
              </a:r>
              <a:endParaRPr b="0" sz="2220">
                <a:solidFill>
                  <a:srgbClr val="38BDF8"/>
                </a:solidFill>
                <a:latin typeface="Roboto Black"/>
                <a:ea typeface="Roboto Black"/>
                <a:cs typeface="Roboto Black"/>
                <a:sym typeface="Roboto Black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11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What is VPN?</a:t>
              </a:r>
              <a:endParaRPr b="1" sz="111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879">
                  <a:solidFill>
                    <a:srgbClr val="E2E8F0"/>
                  </a:solidFill>
                  <a:latin typeface="Roboto"/>
                  <a:ea typeface="Roboto"/>
                  <a:cs typeface="Roboto"/>
                  <a:sym typeface="Roboto"/>
                </a:rPr>
                <a:t>Understanding traditional perimeter security and virtual private networks.</a:t>
              </a:r>
              <a:endParaRPr b="0" sz="879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0" name="Google Shape;80;p15"/>
          <p:cNvGrpSpPr/>
          <p:nvPr/>
        </p:nvGrpSpPr>
        <p:grpSpPr>
          <a:xfrm>
            <a:off x="2571750" y="1238250"/>
            <a:ext cx="1905000" cy="1428900"/>
            <a:chOff x="0" y="0"/>
            <a:chExt cx="1905000" cy="1428900"/>
          </a:xfrm>
        </p:grpSpPr>
        <p:pic>
          <p:nvPicPr>
            <p:cNvPr id="81" name="Google Shape;81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1905000" cy="1428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2" name="Google Shape;82;p15"/>
            <p:cNvSpPr txBox="1"/>
            <p:nvPr/>
          </p:nvSpPr>
          <p:spPr>
            <a:xfrm>
              <a:off x="142875" y="142875"/>
              <a:ext cx="16191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220">
                  <a:solidFill>
                    <a:srgbClr val="38BDF8"/>
                  </a:solidFill>
                  <a:latin typeface="Roboto Black"/>
                  <a:ea typeface="Roboto Black"/>
                  <a:cs typeface="Roboto Black"/>
                  <a:sym typeface="Roboto Black"/>
                </a:rPr>
                <a:t>02</a:t>
              </a:r>
              <a:endParaRPr b="0" sz="2220">
                <a:solidFill>
                  <a:srgbClr val="38BDF8"/>
                </a:solidFill>
                <a:latin typeface="Roboto Black"/>
                <a:ea typeface="Roboto Black"/>
                <a:cs typeface="Roboto Black"/>
                <a:sym typeface="Roboto Black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11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What is Zero Trust?</a:t>
              </a:r>
              <a:endParaRPr b="1" sz="111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879">
                  <a:solidFill>
                    <a:srgbClr val="E2E8F0"/>
                  </a:solidFill>
                  <a:latin typeface="Roboto"/>
                  <a:ea typeface="Roboto"/>
                  <a:cs typeface="Roboto"/>
                  <a:sym typeface="Roboto"/>
                </a:rPr>
                <a:t>Introduction to continuous verification concepts and identity-driven access.</a:t>
              </a:r>
              <a:endParaRPr b="0" sz="879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3" name="Google Shape;83;p15"/>
          <p:cNvGrpSpPr/>
          <p:nvPr/>
        </p:nvGrpSpPr>
        <p:grpSpPr>
          <a:xfrm>
            <a:off x="4667250" y="1238250"/>
            <a:ext cx="1905000" cy="1428900"/>
            <a:chOff x="0" y="0"/>
            <a:chExt cx="1905000" cy="1428900"/>
          </a:xfrm>
        </p:grpSpPr>
        <p:pic>
          <p:nvPicPr>
            <p:cNvPr id="84" name="Google Shape;84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0"/>
              <a:ext cx="1905000" cy="1428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" name="Google Shape;85;p15"/>
            <p:cNvSpPr txBox="1"/>
            <p:nvPr/>
          </p:nvSpPr>
          <p:spPr>
            <a:xfrm>
              <a:off x="142875" y="142875"/>
              <a:ext cx="16191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220">
                  <a:solidFill>
                    <a:srgbClr val="34D399"/>
                  </a:solidFill>
                  <a:latin typeface="Roboto Black"/>
                  <a:ea typeface="Roboto Black"/>
                  <a:cs typeface="Roboto Black"/>
                  <a:sym typeface="Roboto Black"/>
                </a:rPr>
                <a:t>03</a:t>
              </a:r>
              <a:endParaRPr b="0" sz="2220">
                <a:solidFill>
                  <a:srgbClr val="34D399"/>
                </a:solidFill>
                <a:latin typeface="Roboto Black"/>
                <a:ea typeface="Roboto Black"/>
                <a:cs typeface="Roboto Black"/>
                <a:sym typeface="Roboto Black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11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Key Differences</a:t>
              </a:r>
              <a:endParaRPr b="1" sz="111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879">
                  <a:solidFill>
                    <a:srgbClr val="E2E8F0"/>
                  </a:solidFill>
                  <a:latin typeface="Roboto"/>
                  <a:ea typeface="Roboto"/>
                  <a:cs typeface="Roboto"/>
                  <a:sym typeface="Roboto"/>
                </a:rPr>
                <a:t>Direct comparison of core principles, access levels, and security posture.</a:t>
              </a:r>
              <a:endParaRPr b="0" sz="879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6" name="Google Shape;86;p15"/>
          <p:cNvGrpSpPr/>
          <p:nvPr/>
        </p:nvGrpSpPr>
        <p:grpSpPr>
          <a:xfrm>
            <a:off x="6762750" y="1238250"/>
            <a:ext cx="1905000" cy="1428900"/>
            <a:chOff x="0" y="0"/>
            <a:chExt cx="1905000" cy="1428900"/>
          </a:xfrm>
        </p:grpSpPr>
        <p:pic>
          <p:nvPicPr>
            <p:cNvPr id="87" name="Google Shape;87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0"/>
              <a:ext cx="1905000" cy="1428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" name="Google Shape;88;p15"/>
            <p:cNvSpPr txBox="1"/>
            <p:nvPr/>
          </p:nvSpPr>
          <p:spPr>
            <a:xfrm>
              <a:off x="142875" y="142875"/>
              <a:ext cx="16191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220">
                  <a:solidFill>
                    <a:srgbClr val="34D399"/>
                  </a:solidFill>
                  <a:latin typeface="Roboto Black"/>
                  <a:ea typeface="Roboto Black"/>
                  <a:cs typeface="Roboto Black"/>
                  <a:sym typeface="Roboto Black"/>
                </a:rPr>
                <a:t>04</a:t>
              </a:r>
              <a:endParaRPr b="0" sz="2220">
                <a:solidFill>
                  <a:srgbClr val="34D399"/>
                </a:solidFill>
                <a:latin typeface="Roboto Black"/>
                <a:ea typeface="Roboto Black"/>
                <a:cs typeface="Roboto Black"/>
                <a:sym typeface="Roboto Black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11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Architecture</a:t>
              </a:r>
              <a:endParaRPr b="1" sz="111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879">
                  <a:solidFill>
                    <a:srgbClr val="E2E8F0"/>
                  </a:solidFill>
                  <a:latin typeface="Roboto"/>
                  <a:ea typeface="Roboto"/>
                  <a:cs typeface="Roboto"/>
                  <a:sym typeface="Roboto"/>
                </a:rPr>
                <a:t>Comparing perimeter tunnels with micro-segmented app-specific access.</a:t>
              </a:r>
              <a:endParaRPr b="0" sz="879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9" name="Google Shape;89;p15"/>
          <p:cNvGrpSpPr/>
          <p:nvPr/>
        </p:nvGrpSpPr>
        <p:grpSpPr>
          <a:xfrm>
            <a:off x="476250" y="2857500"/>
            <a:ext cx="1905000" cy="1428900"/>
            <a:chOff x="0" y="0"/>
            <a:chExt cx="1905000" cy="1428900"/>
          </a:xfrm>
        </p:grpSpPr>
        <p:pic>
          <p:nvPicPr>
            <p:cNvPr id="90" name="Google Shape;90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1905000" cy="1428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" name="Google Shape;91;p15"/>
            <p:cNvSpPr txBox="1"/>
            <p:nvPr/>
          </p:nvSpPr>
          <p:spPr>
            <a:xfrm>
              <a:off x="142875" y="142875"/>
              <a:ext cx="16191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220">
                  <a:solidFill>
                    <a:srgbClr val="38BDF8"/>
                  </a:solidFill>
                  <a:latin typeface="Roboto Black"/>
                  <a:ea typeface="Roboto Black"/>
                  <a:cs typeface="Roboto Black"/>
                  <a:sym typeface="Roboto Black"/>
                </a:rPr>
                <a:t>05</a:t>
              </a:r>
              <a:endParaRPr b="0" sz="2220">
                <a:solidFill>
                  <a:srgbClr val="38BDF8"/>
                </a:solidFill>
                <a:latin typeface="Roboto Black"/>
                <a:ea typeface="Roboto Black"/>
                <a:cs typeface="Roboto Black"/>
                <a:sym typeface="Roboto Black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11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Real-world Example</a:t>
              </a:r>
              <a:endParaRPr b="1" sz="111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879">
                  <a:solidFill>
                    <a:srgbClr val="E2E8F0"/>
                  </a:solidFill>
                  <a:latin typeface="Roboto"/>
                  <a:ea typeface="Roboto"/>
                  <a:cs typeface="Roboto"/>
                  <a:sym typeface="Roboto"/>
                </a:rPr>
                <a:t>Analyzing threat models, breach scenarios, and enterprise deployments.</a:t>
              </a:r>
              <a:endParaRPr b="0" sz="879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2" name="Google Shape;92;p15"/>
          <p:cNvGrpSpPr/>
          <p:nvPr/>
        </p:nvGrpSpPr>
        <p:grpSpPr>
          <a:xfrm>
            <a:off x="2571750" y="2857500"/>
            <a:ext cx="1905000" cy="1428900"/>
            <a:chOff x="0" y="0"/>
            <a:chExt cx="1905000" cy="1428900"/>
          </a:xfrm>
        </p:grpSpPr>
        <p:pic>
          <p:nvPicPr>
            <p:cNvPr id="93" name="Google Shape;93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1905000" cy="1428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" name="Google Shape;94;p15"/>
            <p:cNvSpPr txBox="1"/>
            <p:nvPr/>
          </p:nvSpPr>
          <p:spPr>
            <a:xfrm>
              <a:off x="142875" y="142875"/>
              <a:ext cx="16191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220">
                  <a:solidFill>
                    <a:srgbClr val="38BDF8"/>
                  </a:solidFill>
                  <a:latin typeface="Roboto Black"/>
                  <a:ea typeface="Roboto Black"/>
                  <a:cs typeface="Roboto Black"/>
                  <a:sym typeface="Roboto Black"/>
                </a:rPr>
                <a:t>06</a:t>
              </a:r>
              <a:endParaRPr b="0" sz="2220">
                <a:solidFill>
                  <a:srgbClr val="38BDF8"/>
                </a:solidFill>
                <a:latin typeface="Roboto Black"/>
                <a:ea typeface="Roboto Black"/>
                <a:cs typeface="Roboto Black"/>
                <a:sym typeface="Roboto Black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11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Pros &amp; Cons</a:t>
              </a:r>
              <a:endParaRPr b="1" sz="111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879">
                  <a:solidFill>
                    <a:srgbClr val="E2E8F0"/>
                  </a:solidFill>
                  <a:latin typeface="Roboto"/>
                  <a:ea typeface="Roboto"/>
                  <a:cs typeface="Roboto"/>
                  <a:sym typeface="Roboto"/>
                </a:rPr>
                <a:t>Evaluating the operational trade-offs, advantages, and limitations of both.</a:t>
              </a:r>
              <a:endParaRPr b="0" sz="879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5" name="Google Shape;95;p15"/>
          <p:cNvGrpSpPr/>
          <p:nvPr/>
        </p:nvGrpSpPr>
        <p:grpSpPr>
          <a:xfrm>
            <a:off x="4667250" y="2857500"/>
            <a:ext cx="1905000" cy="1428900"/>
            <a:chOff x="0" y="0"/>
            <a:chExt cx="1905000" cy="1428900"/>
          </a:xfrm>
        </p:grpSpPr>
        <p:pic>
          <p:nvPicPr>
            <p:cNvPr id="96" name="Google Shape;96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0"/>
              <a:ext cx="1905000" cy="1428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" name="Google Shape;97;p15"/>
            <p:cNvSpPr txBox="1"/>
            <p:nvPr/>
          </p:nvSpPr>
          <p:spPr>
            <a:xfrm>
              <a:off x="142875" y="142875"/>
              <a:ext cx="16191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220">
                  <a:solidFill>
                    <a:srgbClr val="34D399"/>
                  </a:solidFill>
                  <a:latin typeface="Roboto Black"/>
                  <a:ea typeface="Roboto Black"/>
                  <a:cs typeface="Roboto Black"/>
                  <a:sym typeface="Roboto Black"/>
                </a:rPr>
                <a:t>07</a:t>
              </a:r>
              <a:endParaRPr b="0" sz="2220">
                <a:solidFill>
                  <a:srgbClr val="34D399"/>
                </a:solidFill>
                <a:latin typeface="Roboto Black"/>
                <a:ea typeface="Roboto Black"/>
                <a:cs typeface="Roboto Black"/>
                <a:sym typeface="Roboto Black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11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When to Use Which?</a:t>
              </a:r>
              <a:endParaRPr b="1" sz="111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879">
                  <a:solidFill>
                    <a:srgbClr val="E2E8F0"/>
                  </a:solidFill>
                  <a:latin typeface="Roboto"/>
                  <a:ea typeface="Roboto"/>
                  <a:cs typeface="Roboto"/>
                  <a:sym typeface="Roboto"/>
                </a:rPr>
                <a:t>Decision matrix based on organizational size, compliance, and infrastructure.</a:t>
              </a:r>
              <a:endParaRPr b="0" sz="879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8" name="Google Shape;98;p15"/>
          <p:cNvGrpSpPr/>
          <p:nvPr/>
        </p:nvGrpSpPr>
        <p:grpSpPr>
          <a:xfrm>
            <a:off x="6762750" y="2857500"/>
            <a:ext cx="1905000" cy="1428900"/>
            <a:chOff x="0" y="0"/>
            <a:chExt cx="1905000" cy="1428900"/>
          </a:xfrm>
        </p:grpSpPr>
        <p:pic>
          <p:nvPicPr>
            <p:cNvPr id="99" name="Google Shape;99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0"/>
              <a:ext cx="1905000" cy="1428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" name="Google Shape;100;p15"/>
            <p:cNvSpPr txBox="1"/>
            <p:nvPr/>
          </p:nvSpPr>
          <p:spPr>
            <a:xfrm>
              <a:off x="142875" y="142875"/>
              <a:ext cx="16191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220">
                  <a:solidFill>
                    <a:srgbClr val="34D399"/>
                  </a:solidFill>
                  <a:latin typeface="Roboto Black"/>
                  <a:ea typeface="Roboto Black"/>
                  <a:cs typeface="Roboto Black"/>
                  <a:sym typeface="Roboto Black"/>
                </a:rPr>
                <a:t>08</a:t>
              </a:r>
              <a:endParaRPr b="0" sz="2220">
                <a:solidFill>
                  <a:srgbClr val="34D399"/>
                </a:solidFill>
                <a:latin typeface="Roboto Black"/>
                <a:ea typeface="Roboto Black"/>
                <a:cs typeface="Roboto Black"/>
                <a:sym typeface="Roboto Black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11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Conclusion</a:t>
              </a:r>
              <a:endParaRPr b="1" sz="111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879">
                  <a:solidFill>
                    <a:srgbClr val="E2E8F0"/>
                  </a:solidFill>
                  <a:latin typeface="Roboto"/>
                  <a:ea typeface="Roboto"/>
                  <a:cs typeface="Roboto"/>
                  <a:sym typeface="Roboto"/>
                </a:rPr>
                <a:t>Final takeaways and best practices for modern security migration.</a:t>
              </a:r>
              <a:endParaRPr b="0" sz="879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101" name="Google Shape;101;p15"/>
          <p:cNvCxnSpPr/>
          <p:nvPr/>
        </p:nvCxnSpPr>
        <p:spPr>
          <a:xfrm>
            <a:off x="476250" y="4524375"/>
            <a:ext cx="81915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" name="Google Shape;102;p15"/>
          <p:cNvSpPr txBox="1"/>
          <p:nvPr/>
        </p:nvSpPr>
        <p:spPr>
          <a:xfrm>
            <a:off x="476250" y="4667250"/>
            <a:ext cx="2667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LAB</a:t>
            </a:r>
            <a:endParaRPr b="1" sz="1000">
              <a:solidFill>
                <a:srgbClr val="64748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" sz="1110">
                <a:solidFill>
                  <a:srgbClr val="0F172A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Cross Functional Learning Lab</a:t>
            </a:r>
            <a:endParaRPr b="0" sz="1110">
              <a:solidFill>
                <a:srgbClr val="0F172A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103" name="Google Shape;103;p15"/>
          <p:cNvSpPr txBox="1"/>
          <p:nvPr/>
        </p:nvSpPr>
        <p:spPr>
          <a:xfrm>
            <a:off x="3905250" y="466725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PRESENTER</a:t>
            </a:r>
            <a:endParaRPr b="1" sz="1000">
              <a:solidFill>
                <a:srgbClr val="64748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150"/>
              </a:spcBef>
              <a:spcAft>
                <a:spcPts val="0"/>
              </a:spcAft>
              <a:buNone/>
            </a:pPr>
            <a:r>
              <a:rPr b="0" lang="en" sz="1110">
                <a:solidFill>
                  <a:srgbClr val="0F172A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Baishnabi Samal</a:t>
            </a:r>
            <a:endParaRPr b="0" sz="1110">
              <a:solidFill>
                <a:srgbClr val="0F172A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104" name="Google Shape;104;p15"/>
          <p:cNvSpPr txBox="1"/>
          <p:nvPr/>
        </p:nvSpPr>
        <p:spPr>
          <a:xfrm>
            <a:off x="6762750" y="466725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DATE</a:t>
            </a:r>
            <a:endParaRPr b="1" sz="1000">
              <a:solidFill>
                <a:srgbClr val="64748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150"/>
              </a:spcBef>
              <a:spcAft>
                <a:spcPts val="0"/>
              </a:spcAft>
              <a:buNone/>
            </a:pPr>
            <a:r>
              <a:rPr b="0" lang="en" sz="1110">
                <a:solidFill>
                  <a:srgbClr val="0F172A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July 2, 2026</a:t>
            </a:r>
            <a:endParaRPr b="0" sz="1110">
              <a:solidFill>
                <a:srgbClr val="0F172A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6"/>
          <p:cNvSpPr txBox="1"/>
          <p:nvPr/>
        </p:nvSpPr>
        <p:spPr>
          <a:xfrm>
            <a:off x="476250" y="333375"/>
            <a:ext cx="81915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800">
                <a:solidFill>
                  <a:srgbClr val="0F172A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What is a VPN?</a:t>
            </a:r>
            <a:endParaRPr b="0" sz="2800">
              <a:solidFill>
                <a:srgbClr val="0F172A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A Virtual Private Network (VPN) creates an encrypted tunnel between a user's device and the organization's network.</a:t>
            </a:r>
            <a:endParaRPr b="0" sz="1100">
              <a:solidFill>
                <a:srgbClr val="47556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11" name="Google Shape;111;p16"/>
          <p:cNvGrpSpPr/>
          <p:nvPr/>
        </p:nvGrpSpPr>
        <p:grpSpPr>
          <a:xfrm>
            <a:off x="476250" y="1190625"/>
            <a:ext cx="3952800" cy="1428900"/>
            <a:chOff x="476250" y="1190625"/>
            <a:chExt cx="3952800" cy="1428900"/>
          </a:xfrm>
        </p:grpSpPr>
        <p:pic>
          <p:nvPicPr>
            <p:cNvPr descr="A high-tech digital graphic depicting a secure, encrypted virtual private network (VPN) tunnel with glowing blue data streams connecting a remote laptop to a corporate network structure, clean cybersecurity concept." id="112" name="Google Shape;112;p16"/>
            <p:cNvPicPr preferRelativeResize="0"/>
            <p:nvPr/>
          </p:nvPicPr>
          <p:blipFill rotWithShape="1">
            <a:blip r:embed="rId3">
              <a:alphaModFix/>
            </a:blip>
            <a:srcRect b="17876" l="0" r="0" t="17869"/>
            <a:stretch/>
          </p:blipFill>
          <p:spPr>
            <a:xfrm>
              <a:off x="476250" y="1190625"/>
              <a:ext cx="3952800" cy="1428900"/>
            </a:xfrm>
            <a:prstGeom prst="roundRect">
              <a:avLst>
                <a:gd fmla="val 8000" name="adj"/>
              </a:avLst>
            </a:prstGeom>
            <a:noFill/>
            <a:ln>
              <a:noFill/>
            </a:ln>
          </p:spPr>
        </p:pic>
        <p:sp>
          <p:nvSpPr>
            <p:cNvPr id="113" name="Google Shape;113;p16"/>
            <p:cNvSpPr/>
            <p:nvPr/>
          </p:nvSpPr>
          <p:spPr>
            <a:xfrm>
              <a:off x="476250" y="1190625"/>
              <a:ext cx="3952800" cy="1428900"/>
            </a:xfrm>
            <a:prstGeom prst="roundRect">
              <a:avLst>
                <a:gd fmla="val 8000" name="adj"/>
              </a:avLst>
            </a:prstGeom>
            <a:solidFill>
              <a:srgbClr val="000000">
                <a:alpha val="0"/>
              </a:srgbClr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4" name="Google Shape;114;p16"/>
          <p:cNvGrpSpPr/>
          <p:nvPr/>
        </p:nvGrpSpPr>
        <p:grpSpPr>
          <a:xfrm>
            <a:off x="476250" y="2762250"/>
            <a:ext cx="3952800" cy="1476300"/>
            <a:chOff x="0" y="0"/>
            <a:chExt cx="3952800" cy="1476300"/>
          </a:xfrm>
        </p:grpSpPr>
        <p:sp>
          <p:nvSpPr>
            <p:cNvPr id="115" name="Google Shape;115;p16"/>
            <p:cNvSpPr/>
            <p:nvPr/>
          </p:nvSpPr>
          <p:spPr>
            <a:xfrm>
              <a:off x="0" y="0"/>
              <a:ext cx="3952800" cy="1476300"/>
            </a:xfrm>
            <a:prstGeom prst="roundRect">
              <a:avLst>
                <a:gd fmla="val 10322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6"/>
            <p:cNvSpPr txBox="1"/>
            <p:nvPr/>
          </p:nvSpPr>
          <p:spPr>
            <a:xfrm>
              <a:off x="142875" y="142875"/>
              <a:ext cx="36672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b="1" lang="en" sz="1200">
                  <a:solidFill>
                    <a:srgbClr val="0F172A"/>
                  </a:solidFill>
                  <a:latin typeface="Roboto"/>
                  <a:ea typeface="Roboto"/>
                  <a:cs typeface="Roboto"/>
                  <a:sym typeface="Roboto"/>
                </a:rPr>
                <a:t>How It Works</a:t>
              </a:r>
              <a:endParaRPr b="1" sz="1200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17" name="Google Shape;117;p16"/>
            <p:cNvGrpSpPr/>
            <p:nvPr/>
          </p:nvGrpSpPr>
          <p:grpSpPr>
            <a:xfrm>
              <a:off x="142875" y="428625"/>
              <a:ext cx="809700" cy="857400"/>
              <a:chOff x="0" y="0"/>
              <a:chExt cx="809700" cy="857400"/>
            </a:xfrm>
          </p:grpSpPr>
          <p:sp>
            <p:nvSpPr>
              <p:cNvPr id="118" name="Google Shape;118;p16"/>
              <p:cNvSpPr/>
              <p:nvPr/>
            </p:nvSpPr>
            <p:spPr>
              <a:xfrm>
                <a:off x="0" y="0"/>
                <a:ext cx="809700" cy="857400"/>
              </a:xfrm>
              <a:prstGeom prst="roundRect">
                <a:avLst>
                  <a:gd fmla="val 9411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" name="Google Shape;119;p16"/>
              <p:cNvSpPr txBox="1"/>
              <p:nvPr/>
            </p:nvSpPr>
            <p:spPr>
              <a:xfrm>
                <a:off x="76200" y="76200"/>
                <a:ext cx="657300" cy="70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90">
                    <a:solidFill>
                      <a:srgbClr val="38BDF8"/>
                    </a:solidFill>
                    <a:latin typeface="Roboto Black"/>
                    <a:ea typeface="Roboto Black"/>
                    <a:cs typeface="Roboto Black"/>
                    <a:sym typeface="Roboto Black"/>
                  </a:rPr>
                  <a:t>01</a:t>
                </a:r>
                <a:endParaRPr b="0" sz="1190">
                  <a:solidFill>
                    <a:srgbClr val="38BDF8"/>
                  </a:solidFill>
                  <a:latin typeface="Roboto Black"/>
                  <a:ea typeface="Roboto Black"/>
                  <a:cs typeface="Roboto Black"/>
                  <a:sym typeface="Roboto Black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808">
                    <a:solidFill>
                      <a:srgbClr val="334155"/>
                    </a:solidFill>
                    <a:latin typeface="Roboto Medium"/>
                    <a:ea typeface="Roboto Medium"/>
                    <a:cs typeface="Roboto Medium"/>
                    <a:sym typeface="Roboto Medium"/>
                  </a:rPr>
                  <a:t>User Authenticates</a:t>
                </a:r>
                <a:endParaRPr b="0" sz="808">
                  <a:solidFill>
                    <a:srgbClr val="334155"/>
                  </a:solidFill>
                  <a:latin typeface="Roboto Medium"/>
                  <a:ea typeface="Roboto Medium"/>
                  <a:cs typeface="Roboto Medium"/>
                  <a:sym typeface="Roboto Medium"/>
                </a:endParaRPr>
              </a:p>
            </p:txBody>
          </p:sp>
        </p:grpSp>
        <p:grpSp>
          <p:nvGrpSpPr>
            <p:cNvPr id="120" name="Google Shape;120;p16"/>
            <p:cNvGrpSpPr/>
            <p:nvPr/>
          </p:nvGrpSpPr>
          <p:grpSpPr>
            <a:xfrm>
              <a:off x="1047750" y="428625"/>
              <a:ext cx="809700" cy="857400"/>
              <a:chOff x="0" y="0"/>
              <a:chExt cx="809700" cy="857400"/>
            </a:xfrm>
          </p:grpSpPr>
          <p:sp>
            <p:nvSpPr>
              <p:cNvPr id="121" name="Google Shape;121;p16"/>
              <p:cNvSpPr/>
              <p:nvPr/>
            </p:nvSpPr>
            <p:spPr>
              <a:xfrm>
                <a:off x="0" y="0"/>
                <a:ext cx="809700" cy="857400"/>
              </a:xfrm>
              <a:prstGeom prst="roundRect">
                <a:avLst>
                  <a:gd fmla="val 9411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" name="Google Shape;122;p16"/>
              <p:cNvSpPr txBox="1"/>
              <p:nvPr/>
            </p:nvSpPr>
            <p:spPr>
              <a:xfrm>
                <a:off x="76200" y="76200"/>
                <a:ext cx="657300" cy="70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90">
                    <a:solidFill>
                      <a:srgbClr val="38BDF8"/>
                    </a:solidFill>
                    <a:latin typeface="Roboto Black"/>
                    <a:ea typeface="Roboto Black"/>
                    <a:cs typeface="Roboto Black"/>
                    <a:sym typeface="Roboto Black"/>
                  </a:rPr>
                  <a:t>02</a:t>
                </a:r>
                <a:endParaRPr b="0" sz="1190">
                  <a:solidFill>
                    <a:srgbClr val="38BDF8"/>
                  </a:solidFill>
                  <a:latin typeface="Roboto Black"/>
                  <a:ea typeface="Roboto Black"/>
                  <a:cs typeface="Roboto Black"/>
                  <a:sym typeface="Roboto Black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808">
                    <a:solidFill>
                      <a:srgbClr val="334155"/>
                    </a:solidFill>
                    <a:latin typeface="Roboto Medium"/>
                    <a:ea typeface="Roboto Medium"/>
                    <a:cs typeface="Roboto Medium"/>
                    <a:sym typeface="Roboto Medium"/>
                  </a:rPr>
                  <a:t>Tunnel Created</a:t>
                </a:r>
                <a:endParaRPr b="0" sz="808">
                  <a:solidFill>
                    <a:srgbClr val="334155"/>
                  </a:solidFill>
                  <a:latin typeface="Roboto Medium"/>
                  <a:ea typeface="Roboto Medium"/>
                  <a:cs typeface="Roboto Medium"/>
                  <a:sym typeface="Roboto Medium"/>
                </a:endParaRPr>
              </a:p>
            </p:txBody>
          </p:sp>
        </p:grpSp>
        <p:grpSp>
          <p:nvGrpSpPr>
            <p:cNvPr id="123" name="Google Shape;123;p16"/>
            <p:cNvGrpSpPr/>
            <p:nvPr/>
          </p:nvGrpSpPr>
          <p:grpSpPr>
            <a:xfrm>
              <a:off x="1952625" y="428625"/>
              <a:ext cx="809700" cy="857400"/>
              <a:chOff x="0" y="0"/>
              <a:chExt cx="809700" cy="857400"/>
            </a:xfrm>
          </p:grpSpPr>
          <p:sp>
            <p:nvSpPr>
              <p:cNvPr id="124" name="Google Shape;124;p16"/>
              <p:cNvSpPr/>
              <p:nvPr/>
            </p:nvSpPr>
            <p:spPr>
              <a:xfrm>
                <a:off x="0" y="0"/>
                <a:ext cx="809700" cy="857400"/>
              </a:xfrm>
              <a:prstGeom prst="roundRect">
                <a:avLst>
                  <a:gd fmla="val 9411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" name="Google Shape;125;p16"/>
              <p:cNvSpPr txBox="1"/>
              <p:nvPr/>
            </p:nvSpPr>
            <p:spPr>
              <a:xfrm>
                <a:off x="76200" y="76200"/>
                <a:ext cx="657300" cy="70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90">
                    <a:solidFill>
                      <a:srgbClr val="38BDF8"/>
                    </a:solidFill>
                    <a:latin typeface="Roboto Black"/>
                    <a:ea typeface="Roboto Black"/>
                    <a:cs typeface="Roboto Black"/>
                    <a:sym typeface="Roboto Black"/>
                  </a:rPr>
                  <a:t>03</a:t>
                </a:r>
                <a:endParaRPr b="0" sz="1190">
                  <a:solidFill>
                    <a:srgbClr val="38BDF8"/>
                  </a:solidFill>
                  <a:latin typeface="Roboto Black"/>
                  <a:ea typeface="Roboto Black"/>
                  <a:cs typeface="Roboto Black"/>
                  <a:sym typeface="Roboto Black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808">
                    <a:solidFill>
                      <a:srgbClr val="334155"/>
                    </a:solidFill>
                    <a:latin typeface="Roboto Medium"/>
                    <a:ea typeface="Roboto Medium"/>
                    <a:cs typeface="Roboto Medium"/>
                    <a:sym typeface="Roboto Medium"/>
                  </a:rPr>
                  <a:t>Network Access</a:t>
                </a:r>
                <a:endParaRPr b="0" sz="808">
                  <a:solidFill>
                    <a:srgbClr val="334155"/>
                  </a:solidFill>
                  <a:latin typeface="Roboto Medium"/>
                  <a:ea typeface="Roboto Medium"/>
                  <a:cs typeface="Roboto Medium"/>
                  <a:sym typeface="Roboto Medium"/>
                </a:endParaRPr>
              </a:p>
            </p:txBody>
          </p:sp>
        </p:grpSp>
        <p:grpSp>
          <p:nvGrpSpPr>
            <p:cNvPr id="126" name="Google Shape;126;p16"/>
            <p:cNvGrpSpPr/>
            <p:nvPr/>
          </p:nvGrpSpPr>
          <p:grpSpPr>
            <a:xfrm>
              <a:off x="2857500" y="428625"/>
              <a:ext cx="809700" cy="857400"/>
              <a:chOff x="0" y="0"/>
              <a:chExt cx="809700" cy="857400"/>
            </a:xfrm>
          </p:grpSpPr>
          <p:sp>
            <p:nvSpPr>
              <p:cNvPr id="127" name="Google Shape;127;p16"/>
              <p:cNvSpPr/>
              <p:nvPr/>
            </p:nvSpPr>
            <p:spPr>
              <a:xfrm>
                <a:off x="0" y="0"/>
                <a:ext cx="809700" cy="857400"/>
              </a:xfrm>
              <a:prstGeom prst="roundRect">
                <a:avLst>
                  <a:gd fmla="val 9411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" name="Google Shape;128;p16"/>
              <p:cNvSpPr txBox="1"/>
              <p:nvPr/>
            </p:nvSpPr>
            <p:spPr>
              <a:xfrm>
                <a:off x="76200" y="76200"/>
                <a:ext cx="657300" cy="70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90">
                    <a:solidFill>
                      <a:srgbClr val="38BDF8"/>
                    </a:solidFill>
                    <a:latin typeface="Roboto Black"/>
                    <a:ea typeface="Roboto Black"/>
                    <a:cs typeface="Roboto Black"/>
                    <a:sym typeface="Roboto Black"/>
                  </a:rPr>
                  <a:t>04</a:t>
                </a:r>
                <a:endParaRPr b="0" sz="1190">
                  <a:solidFill>
                    <a:srgbClr val="38BDF8"/>
                  </a:solidFill>
                  <a:latin typeface="Roboto Black"/>
                  <a:ea typeface="Roboto Black"/>
                  <a:cs typeface="Roboto Black"/>
                  <a:sym typeface="Roboto Black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808">
                    <a:solidFill>
                      <a:srgbClr val="334155"/>
                    </a:solidFill>
                    <a:latin typeface="Roboto Medium"/>
                    <a:ea typeface="Roboto Medium"/>
                    <a:cs typeface="Roboto Medium"/>
                    <a:sym typeface="Roboto Medium"/>
                  </a:rPr>
                  <a:t>Resources Reachable</a:t>
                </a:r>
                <a:endParaRPr b="0" sz="808">
                  <a:solidFill>
                    <a:srgbClr val="334155"/>
                  </a:solidFill>
                  <a:latin typeface="Roboto Medium"/>
                  <a:ea typeface="Roboto Medium"/>
                  <a:cs typeface="Roboto Medium"/>
                  <a:sym typeface="Roboto Medium"/>
                </a:endParaRPr>
              </a:p>
            </p:txBody>
          </p:sp>
        </p:grpSp>
      </p:grpSp>
      <p:grpSp>
        <p:nvGrpSpPr>
          <p:cNvPr id="129" name="Google Shape;129;p16"/>
          <p:cNvGrpSpPr/>
          <p:nvPr/>
        </p:nvGrpSpPr>
        <p:grpSpPr>
          <a:xfrm>
            <a:off x="4714875" y="1190625"/>
            <a:ext cx="3952800" cy="1428900"/>
            <a:chOff x="0" y="0"/>
            <a:chExt cx="3952800" cy="1428900"/>
          </a:xfrm>
        </p:grpSpPr>
        <p:sp>
          <p:nvSpPr>
            <p:cNvPr id="130" name="Google Shape;130;p16"/>
            <p:cNvSpPr/>
            <p:nvPr/>
          </p:nvSpPr>
          <p:spPr>
            <a:xfrm>
              <a:off x="0" y="0"/>
              <a:ext cx="3952800" cy="1428900"/>
            </a:xfrm>
            <a:prstGeom prst="roundRect">
              <a:avLst>
                <a:gd fmla="val 10666" name="adj"/>
              </a:avLst>
            </a:prstGeom>
            <a:solidFill>
              <a:srgbClr val="ECFDF5"/>
            </a:solidFill>
            <a:ln cap="flat" cmpd="sng" w="9525">
              <a:solidFill>
                <a:srgbClr val="A7F3D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6"/>
            <p:cNvSpPr txBox="1"/>
            <p:nvPr/>
          </p:nvSpPr>
          <p:spPr>
            <a:xfrm>
              <a:off x="190500" y="171450"/>
              <a:ext cx="3571800" cy="10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65F46"/>
                  </a:solidFill>
                  <a:latin typeface="Roboto"/>
                  <a:ea typeface="Roboto"/>
                  <a:cs typeface="Roboto"/>
                  <a:sym typeface="Roboto"/>
                </a:rPr>
                <a:t>Key Advantages</a:t>
              </a:r>
              <a:endParaRPr b="1" sz="1200">
                <a:solidFill>
                  <a:srgbClr val="065F4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059669"/>
                  </a:solidFill>
                  <a:latin typeface="Roboto SemiBold"/>
                  <a:ea typeface="Roboto SemiBold"/>
                  <a:cs typeface="Roboto SemiBold"/>
                  <a:sym typeface="Roboto SemiBold"/>
                </a:rPr>
                <a:t>✓ Encrypts internet traffic</a:t>
              </a:r>
              <a:endParaRPr b="0" sz="1050">
                <a:solidFill>
                  <a:srgbClr val="059669"/>
                </a:solidFill>
                <a:latin typeface="Roboto SemiBold"/>
                <a:ea typeface="Roboto SemiBold"/>
                <a:cs typeface="Roboto SemiBold"/>
                <a:sym typeface="Roboto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059669"/>
                  </a:solidFill>
                  <a:latin typeface="Roboto SemiBold"/>
                  <a:ea typeface="Roboto SemiBold"/>
                  <a:cs typeface="Roboto SemiBold"/>
                  <a:sym typeface="Roboto SemiBold"/>
                </a:rPr>
                <a:t>✓ Secure remote access</a:t>
              </a:r>
              <a:endParaRPr b="0" sz="1050">
                <a:solidFill>
                  <a:srgbClr val="059669"/>
                </a:solidFill>
                <a:latin typeface="Roboto SemiBold"/>
                <a:ea typeface="Roboto SemiBold"/>
                <a:cs typeface="Roboto SemiBold"/>
                <a:sym typeface="Roboto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b="0" lang="en" sz="1050">
                  <a:solidFill>
                    <a:srgbClr val="059669"/>
                  </a:solidFill>
                  <a:latin typeface="Roboto SemiBold"/>
                  <a:ea typeface="Roboto SemiBold"/>
                  <a:cs typeface="Roboto SemiBold"/>
                  <a:sym typeface="Roboto SemiBold"/>
                </a:rPr>
                <a:t>✓ Easy to deploy</a:t>
              </a:r>
              <a:endParaRPr b="0" sz="1050">
                <a:solidFill>
                  <a:srgbClr val="059669"/>
                </a:solidFill>
                <a:latin typeface="Roboto SemiBold"/>
                <a:ea typeface="Roboto SemiBold"/>
                <a:cs typeface="Roboto SemiBold"/>
                <a:sym typeface="Roboto SemiBold"/>
              </a:endParaRPr>
            </a:p>
          </p:txBody>
        </p:sp>
      </p:grpSp>
      <p:grpSp>
        <p:nvGrpSpPr>
          <p:cNvPr id="132" name="Google Shape;132;p16"/>
          <p:cNvGrpSpPr/>
          <p:nvPr/>
        </p:nvGrpSpPr>
        <p:grpSpPr>
          <a:xfrm>
            <a:off x="4714875" y="2809875"/>
            <a:ext cx="3952800" cy="1428900"/>
            <a:chOff x="0" y="0"/>
            <a:chExt cx="3952800" cy="1428900"/>
          </a:xfrm>
        </p:grpSpPr>
        <p:sp>
          <p:nvSpPr>
            <p:cNvPr id="133" name="Google Shape;133;p16"/>
            <p:cNvSpPr/>
            <p:nvPr/>
          </p:nvSpPr>
          <p:spPr>
            <a:xfrm>
              <a:off x="0" y="0"/>
              <a:ext cx="3952800" cy="1428900"/>
            </a:xfrm>
            <a:prstGeom prst="roundRect">
              <a:avLst>
                <a:gd fmla="val 10666" name="adj"/>
              </a:avLst>
            </a:prstGeom>
            <a:solidFill>
              <a:srgbClr val="FEF2F2"/>
            </a:solidFill>
            <a:ln cap="flat" cmpd="sng" w="9525">
              <a:solidFill>
                <a:srgbClr val="FC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6"/>
            <p:cNvSpPr txBox="1"/>
            <p:nvPr/>
          </p:nvSpPr>
          <p:spPr>
            <a:xfrm>
              <a:off x="190500" y="171450"/>
              <a:ext cx="3571800" cy="10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991B1B"/>
                  </a:solidFill>
                  <a:latin typeface="Roboto"/>
                  <a:ea typeface="Roboto"/>
                  <a:cs typeface="Roboto"/>
                  <a:sym typeface="Roboto"/>
                </a:rPr>
                <a:t>Limitations &amp; Risks</a:t>
              </a:r>
              <a:endParaRPr b="1" sz="1200">
                <a:solidFill>
                  <a:srgbClr val="991B1B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DC2626"/>
                  </a:solidFill>
                  <a:latin typeface="Roboto SemiBold"/>
                  <a:ea typeface="Roboto SemiBold"/>
                  <a:cs typeface="Roboto SemiBold"/>
                  <a:sym typeface="Roboto SemiBold"/>
                </a:rPr>
                <a:t>✗ Broad network access risk</a:t>
              </a:r>
              <a:endParaRPr b="0" sz="1050">
                <a:solidFill>
                  <a:srgbClr val="DC2626"/>
                </a:solidFill>
                <a:latin typeface="Roboto SemiBold"/>
                <a:ea typeface="Roboto SemiBold"/>
                <a:cs typeface="Roboto SemiBold"/>
                <a:sym typeface="Roboto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DC2626"/>
                  </a:solidFill>
                  <a:latin typeface="Roboto SemiBold"/>
                  <a:ea typeface="Roboto SemiBold"/>
                  <a:cs typeface="Roboto SemiBold"/>
                  <a:sym typeface="Roboto SemiBold"/>
                </a:rPr>
                <a:t>✗ Vulnerable if credentials compromised</a:t>
              </a:r>
              <a:endParaRPr b="0" sz="1050">
                <a:solidFill>
                  <a:srgbClr val="DC2626"/>
                </a:solidFill>
                <a:latin typeface="Roboto SemiBold"/>
                <a:ea typeface="Roboto SemiBold"/>
                <a:cs typeface="Roboto SemiBold"/>
                <a:sym typeface="Roboto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b="0" lang="en" sz="1050">
                  <a:solidFill>
                    <a:srgbClr val="DC2626"/>
                  </a:solidFill>
                  <a:latin typeface="Roboto SemiBold"/>
                  <a:ea typeface="Roboto SemiBold"/>
                  <a:cs typeface="Roboto SemiBold"/>
                  <a:sym typeface="Roboto SemiBold"/>
                </a:rPr>
                <a:t>✗ Trusts users implicitly after login</a:t>
              </a:r>
              <a:endParaRPr b="0" sz="1050">
                <a:solidFill>
                  <a:srgbClr val="DC2626"/>
                </a:solidFill>
                <a:latin typeface="Roboto SemiBold"/>
                <a:ea typeface="Roboto SemiBold"/>
                <a:cs typeface="Roboto SemiBold"/>
                <a:sym typeface="Roboto SemiBold"/>
              </a:endParaRPr>
            </a:p>
          </p:txBody>
        </p:sp>
      </p:grpSp>
      <p:cxnSp>
        <p:nvCxnSpPr>
          <p:cNvPr id="135" name="Google Shape;135;p16"/>
          <p:cNvCxnSpPr/>
          <p:nvPr/>
        </p:nvCxnSpPr>
        <p:spPr>
          <a:xfrm>
            <a:off x="476250" y="4524375"/>
            <a:ext cx="81915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6" name="Google Shape;136;p16"/>
          <p:cNvSpPr txBox="1"/>
          <p:nvPr/>
        </p:nvSpPr>
        <p:spPr>
          <a:xfrm>
            <a:off x="476250" y="4667250"/>
            <a:ext cx="2667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5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LAB</a:t>
            </a:r>
            <a:endParaRPr b="1" sz="750">
              <a:solidFill>
                <a:srgbClr val="64748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13"/>
              </a:spcBef>
              <a:spcAft>
                <a:spcPts val="0"/>
              </a:spcAft>
              <a:buNone/>
            </a:pPr>
            <a:r>
              <a:rPr b="0" lang="en" sz="825">
                <a:solidFill>
                  <a:srgbClr val="0F172A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Cross Functional Learning Lab</a:t>
            </a:r>
            <a:endParaRPr b="0" sz="825">
              <a:solidFill>
                <a:srgbClr val="0F172A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137" name="Google Shape;137;p16"/>
          <p:cNvSpPr txBox="1"/>
          <p:nvPr/>
        </p:nvSpPr>
        <p:spPr>
          <a:xfrm>
            <a:off x="3619500" y="466725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5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PRESENTER</a:t>
            </a:r>
            <a:endParaRPr b="1" sz="750">
              <a:solidFill>
                <a:srgbClr val="64748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113"/>
              </a:spcBef>
              <a:spcAft>
                <a:spcPts val="0"/>
              </a:spcAft>
              <a:buNone/>
            </a:pPr>
            <a:r>
              <a:rPr b="0" lang="en" sz="825">
                <a:solidFill>
                  <a:srgbClr val="0F172A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Baishnabi Samal</a:t>
            </a:r>
            <a:endParaRPr b="0" sz="825">
              <a:solidFill>
                <a:srgbClr val="0F172A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138" name="Google Shape;138;p16"/>
          <p:cNvSpPr txBox="1"/>
          <p:nvPr/>
        </p:nvSpPr>
        <p:spPr>
          <a:xfrm>
            <a:off x="6762750" y="466725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5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DATE</a:t>
            </a:r>
            <a:endParaRPr b="1" sz="750">
              <a:solidFill>
                <a:srgbClr val="64748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113"/>
              </a:spcBef>
              <a:spcAft>
                <a:spcPts val="0"/>
              </a:spcAft>
              <a:buNone/>
            </a:pPr>
            <a:r>
              <a:rPr b="0" lang="en" sz="825">
                <a:solidFill>
                  <a:srgbClr val="0F172A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July 2, 2026</a:t>
            </a:r>
            <a:endParaRPr b="0" sz="825">
              <a:solidFill>
                <a:srgbClr val="0F172A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/>
        </p:nvSpPr>
        <p:spPr>
          <a:xfrm>
            <a:off x="476250" y="333375"/>
            <a:ext cx="81915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600">
                <a:solidFill>
                  <a:srgbClr val="0F172A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What is Zero Trust?</a:t>
            </a:r>
            <a:endParaRPr b="0" sz="2600">
              <a:solidFill>
                <a:srgbClr val="0F172A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A security framework based on the core principle of "Never Trust, Always Verify," replacing legacy perimeter assumptions.</a:t>
            </a:r>
            <a:endParaRPr b="0" sz="1100">
              <a:solidFill>
                <a:srgbClr val="47556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45" name="Google Shape;145;p17"/>
          <p:cNvGrpSpPr/>
          <p:nvPr/>
        </p:nvGrpSpPr>
        <p:grpSpPr>
          <a:xfrm>
            <a:off x="476250" y="1190625"/>
            <a:ext cx="2476500" cy="2952900"/>
            <a:chOff x="0" y="0"/>
            <a:chExt cx="2476500" cy="2952900"/>
          </a:xfrm>
        </p:grpSpPr>
        <p:sp>
          <p:nvSpPr>
            <p:cNvPr id="146" name="Google Shape;146;p17"/>
            <p:cNvSpPr/>
            <p:nvPr/>
          </p:nvSpPr>
          <p:spPr>
            <a:xfrm>
              <a:off x="0" y="0"/>
              <a:ext cx="2476500" cy="2952900"/>
            </a:xfrm>
            <a:prstGeom prst="roundRect">
              <a:avLst>
                <a:gd fmla="val 6153" name="adj"/>
              </a:avLst>
            </a:prstGeom>
            <a:solidFill>
              <a:srgbClr val="0B254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7"/>
            <p:cNvSpPr/>
            <p:nvPr/>
          </p:nvSpPr>
          <p:spPr>
            <a:xfrm>
              <a:off x="0" y="0"/>
              <a:ext cx="2476500" cy="523800"/>
            </a:xfrm>
            <a:prstGeom prst="roundRect">
              <a:avLst>
                <a:gd fmla="val 29090" name="adj"/>
              </a:avLst>
            </a:prstGeom>
            <a:solidFill>
              <a:srgbClr val="13407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7"/>
            <p:cNvSpPr/>
            <p:nvPr/>
          </p:nvSpPr>
          <p:spPr>
            <a:xfrm>
              <a:off x="0" y="333375"/>
              <a:ext cx="2476500" cy="190500"/>
            </a:xfrm>
            <a:prstGeom prst="rect">
              <a:avLst/>
            </a:prstGeom>
            <a:solidFill>
              <a:srgbClr val="13407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7"/>
            <p:cNvSpPr txBox="1"/>
            <p:nvPr/>
          </p:nvSpPr>
          <p:spPr>
            <a:xfrm>
              <a:off x="201780" y="152400"/>
              <a:ext cx="2095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4D399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CORE PRINCIPLES</a:t>
              </a:r>
              <a:endParaRPr b="0" sz="1100">
                <a:solidFill>
                  <a:srgbClr val="34D399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</p:txBody>
        </p:sp>
        <p:sp>
          <p:nvSpPr>
            <p:cNvPr id="150" name="Google Shape;150;p17"/>
            <p:cNvSpPr txBox="1"/>
            <p:nvPr/>
          </p:nvSpPr>
          <p:spPr>
            <a:xfrm>
              <a:off x="190500" y="457200"/>
              <a:ext cx="2095500" cy="238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FFFF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>
                <a:solidFill>
                  <a:srgbClr val="FFFFFF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  <a:p>
              <a:pPr indent="-295275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F0F9FF"/>
                </a:buClr>
                <a:buSzPts val="1050"/>
                <a:buFont typeface="Roboto"/>
                <a:buChar char="●"/>
              </a:pPr>
              <a:r>
                <a:rPr b="0" lang="en" sz="1050">
                  <a:solidFill>
                    <a:srgbClr val="F0F9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Verify every user</a:t>
              </a:r>
              <a:endParaRPr b="0" sz="1050">
                <a:solidFill>
                  <a:srgbClr val="F0F9FF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  <a:p>
              <a:pPr indent="-295275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F0F9FF"/>
                </a:buClr>
                <a:buSzPts val="1050"/>
                <a:buFont typeface="Roboto"/>
                <a:buChar char="●"/>
              </a:pPr>
              <a:r>
                <a:rPr b="0" lang="en" sz="1050">
                  <a:solidFill>
                    <a:srgbClr val="F0F9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Verify every device</a:t>
              </a:r>
              <a:endParaRPr b="0" sz="1050">
                <a:solidFill>
                  <a:srgbClr val="F0F9FF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  <a:p>
              <a:pPr indent="-295275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F0F9FF"/>
                </a:buClr>
                <a:buSzPts val="1050"/>
                <a:buFont typeface="Roboto"/>
                <a:buChar char="●"/>
              </a:pPr>
              <a:r>
                <a:rPr b="0" lang="en" sz="1050">
                  <a:solidFill>
                    <a:srgbClr val="F0F9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Least privilege access</a:t>
              </a:r>
              <a:endParaRPr b="0" sz="1050">
                <a:solidFill>
                  <a:srgbClr val="F0F9FF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  <a:p>
              <a:pPr indent="-295275" lvl="0" marL="457200" rtl="0" algn="l">
                <a:spcBef>
                  <a:spcPts val="450"/>
                </a:spcBef>
                <a:spcAft>
                  <a:spcPts val="450"/>
                </a:spcAft>
                <a:buClr>
                  <a:srgbClr val="F0F9FF"/>
                </a:buClr>
                <a:buSzPts val="1050"/>
                <a:buFont typeface="Roboto"/>
                <a:buChar char="●"/>
              </a:pPr>
              <a:r>
                <a:rPr b="0" lang="en" sz="1050">
                  <a:solidFill>
                    <a:srgbClr val="F0F9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Continuous monitoring</a:t>
              </a:r>
              <a:endParaRPr b="0" sz="1050">
                <a:solidFill>
                  <a:srgbClr val="F0F9FF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</p:grpSp>
      <p:grpSp>
        <p:nvGrpSpPr>
          <p:cNvPr id="151" name="Google Shape;151;p17"/>
          <p:cNvGrpSpPr/>
          <p:nvPr/>
        </p:nvGrpSpPr>
        <p:grpSpPr>
          <a:xfrm>
            <a:off x="3143250" y="1190625"/>
            <a:ext cx="2476500" cy="2952900"/>
            <a:chOff x="0" y="0"/>
            <a:chExt cx="2476500" cy="2952900"/>
          </a:xfrm>
        </p:grpSpPr>
        <p:sp>
          <p:nvSpPr>
            <p:cNvPr id="152" name="Google Shape;152;p17"/>
            <p:cNvSpPr/>
            <p:nvPr/>
          </p:nvSpPr>
          <p:spPr>
            <a:xfrm>
              <a:off x="0" y="0"/>
              <a:ext cx="2476500" cy="2952900"/>
            </a:xfrm>
            <a:prstGeom prst="roundRect">
              <a:avLst>
                <a:gd fmla="val 6153" name="adj"/>
              </a:avLst>
            </a:prstGeom>
            <a:solidFill>
              <a:srgbClr val="0B254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7"/>
            <p:cNvSpPr/>
            <p:nvPr/>
          </p:nvSpPr>
          <p:spPr>
            <a:xfrm>
              <a:off x="0" y="0"/>
              <a:ext cx="2476500" cy="523800"/>
            </a:xfrm>
            <a:prstGeom prst="roundRect">
              <a:avLst>
                <a:gd fmla="val 29090" name="adj"/>
              </a:avLst>
            </a:prstGeom>
            <a:solidFill>
              <a:srgbClr val="13407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7"/>
            <p:cNvSpPr/>
            <p:nvPr/>
          </p:nvSpPr>
          <p:spPr>
            <a:xfrm>
              <a:off x="0" y="333375"/>
              <a:ext cx="2476500" cy="190500"/>
            </a:xfrm>
            <a:prstGeom prst="rect">
              <a:avLst/>
            </a:prstGeom>
            <a:solidFill>
              <a:srgbClr val="13407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7"/>
            <p:cNvSpPr txBox="1"/>
            <p:nvPr/>
          </p:nvSpPr>
          <p:spPr>
            <a:xfrm>
              <a:off x="190500" y="152400"/>
              <a:ext cx="2095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4D399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COMPONENTS</a:t>
              </a:r>
              <a:endParaRPr b="0" sz="1100">
                <a:solidFill>
                  <a:srgbClr val="34D399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</p:txBody>
        </p:sp>
        <p:sp>
          <p:nvSpPr>
            <p:cNvPr id="156" name="Google Shape;156;p17"/>
            <p:cNvSpPr txBox="1"/>
            <p:nvPr/>
          </p:nvSpPr>
          <p:spPr>
            <a:xfrm>
              <a:off x="190500" y="457200"/>
              <a:ext cx="2095500" cy="238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FFFF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FFFF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  <a:p>
              <a:pPr indent="-295275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F0F9FF"/>
                </a:buClr>
                <a:buSzPts val="1050"/>
                <a:buFont typeface="Roboto"/>
                <a:buChar char="●"/>
              </a:pPr>
              <a:r>
                <a:rPr b="0" lang="en" sz="1050">
                  <a:solidFill>
                    <a:srgbClr val="F0F9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Identity Provider</a:t>
              </a:r>
              <a:endParaRPr b="0" sz="1050">
                <a:solidFill>
                  <a:srgbClr val="F0F9FF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  <a:p>
              <a:pPr indent="-295275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F0F9FF"/>
                </a:buClr>
                <a:buSzPts val="1050"/>
                <a:buFont typeface="Roboto"/>
                <a:buChar char="●"/>
              </a:pPr>
              <a:r>
                <a:rPr b="0" lang="en" sz="1050">
                  <a:solidFill>
                    <a:srgbClr val="F0F9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MFA</a:t>
              </a:r>
              <a:endParaRPr b="0" sz="1050">
                <a:solidFill>
                  <a:srgbClr val="F0F9FF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  <a:p>
              <a:pPr indent="-295275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F0F9FF"/>
                </a:buClr>
                <a:buSzPts val="1050"/>
                <a:buFont typeface="Roboto"/>
                <a:buChar char="●"/>
              </a:pPr>
              <a:r>
                <a:rPr b="0" lang="en" sz="1050">
                  <a:solidFill>
                    <a:srgbClr val="F0F9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Device verification</a:t>
              </a:r>
              <a:endParaRPr b="0" sz="1050">
                <a:solidFill>
                  <a:srgbClr val="F0F9FF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  <a:p>
              <a:pPr indent="-295275" lvl="0" marL="457200" rtl="0" algn="l">
                <a:spcBef>
                  <a:spcPts val="450"/>
                </a:spcBef>
                <a:spcAft>
                  <a:spcPts val="450"/>
                </a:spcAft>
                <a:buClr>
                  <a:srgbClr val="F0F9FF"/>
                </a:buClr>
                <a:buSzPts val="1050"/>
                <a:buFont typeface="Roboto"/>
                <a:buChar char="●"/>
              </a:pPr>
              <a:r>
                <a:rPr b="0" lang="en" sz="1050">
                  <a:solidFill>
                    <a:srgbClr val="F0F9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Policy Engine</a:t>
              </a:r>
              <a:endParaRPr b="0" sz="1050">
                <a:solidFill>
                  <a:srgbClr val="F0F9FF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</p:grpSp>
      <p:grpSp>
        <p:nvGrpSpPr>
          <p:cNvPr id="157" name="Google Shape;157;p17"/>
          <p:cNvGrpSpPr/>
          <p:nvPr/>
        </p:nvGrpSpPr>
        <p:grpSpPr>
          <a:xfrm>
            <a:off x="5810250" y="1190625"/>
            <a:ext cx="2952900" cy="2952825"/>
            <a:chOff x="0" y="0"/>
            <a:chExt cx="2952900" cy="2952825"/>
          </a:xfrm>
        </p:grpSpPr>
        <p:grpSp>
          <p:nvGrpSpPr>
            <p:cNvPr id="158" name="Google Shape;158;p17"/>
            <p:cNvGrpSpPr/>
            <p:nvPr/>
          </p:nvGrpSpPr>
          <p:grpSpPr>
            <a:xfrm>
              <a:off x="0" y="0"/>
              <a:ext cx="2952900" cy="1428900"/>
              <a:chOff x="0" y="0"/>
              <a:chExt cx="2952900" cy="1428900"/>
            </a:xfrm>
          </p:grpSpPr>
          <p:pic>
            <p:nvPicPr>
              <p:cNvPr descr="A highly dynamic, abstract cyber security concept art. Glowing neon green and dark blue streams of verified continuous connections, modern, sleek, representing zero trust network components." id="159" name="Google Shape;159;p17"/>
              <p:cNvPicPr preferRelativeResize="0"/>
              <p:nvPr/>
            </p:nvPicPr>
            <p:blipFill rotWithShape="1">
              <a:blip r:embed="rId4">
                <a:alphaModFix/>
              </a:blip>
              <a:srcRect b="25000" l="0" r="-3338" t="25000"/>
              <a:stretch/>
            </p:blipFill>
            <p:spPr>
              <a:xfrm>
                <a:off x="0" y="0"/>
                <a:ext cx="2952900" cy="1428900"/>
              </a:xfrm>
              <a:prstGeom prst="roundRect">
                <a:avLst>
                  <a:gd fmla="val 10666" name="adj"/>
                </a:avLst>
              </a:prstGeom>
              <a:noFill/>
              <a:ln>
                <a:noFill/>
              </a:ln>
            </p:spPr>
          </p:pic>
          <p:sp>
            <p:nvSpPr>
              <p:cNvPr id="160" name="Google Shape;160;p17"/>
              <p:cNvSpPr/>
              <p:nvPr/>
            </p:nvSpPr>
            <p:spPr>
              <a:xfrm>
                <a:off x="0" y="0"/>
                <a:ext cx="2857500" cy="1428900"/>
              </a:xfrm>
              <a:prstGeom prst="roundRect">
                <a:avLst>
                  <a:gd fmla="val 10666" name="adj"/>
                </a:avLst>
              </a:prstGeom>
              <a:solidFill>
                <a:srgbClr val="000000">
                  <a:alpha val="0"/>
                </a:srgbClr>
              </a:solidFill>
              <a:ln cap="flat" cmpd="sng" w="14300">
                <a:solidFill>
                  <a:srgbClr val="13407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1" name="Google Shape;161;p17"/>
            <p:cNvGrpSpPr/>
            <p:nvPr/>
          </p:nvGrpSpPr>
          <p:grpSpPr>
            <a:xfrm>
              <a:off x="0" y="1571625"/>
              <a:ext cx="2857500" cy="1381200"/>
              <a:chOff x="0" y="0"/>
              <a:chExt cx="2857500" cy="1381200"/>
            </a:xfrm>
          </p:grpSpPr>
          <p:sp>
            <p:nvSpPr>
              <p:cNvPr id="162" name="Google Shape;162;p17"/>
              <p:cNvSpPr/>
              <p:nvPr/>
            </p:nvSpPr>
            <p:spPr>
              <a:xfrm>
                <a:off x="0" y="0"/>
                <a:ext cx="2857500" cy="1381200"/>
              </a:xfrm>
              <a:prstGeom prst="roundRect">
                <a:avLst>
                  <a:gd fmla="val 11034" name="adj"/>
                </a:avLst>
              </a:prstGeom>
              <a:solidFill>
                <a:srgbClr val="EEF2F6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" name="Google Shape;163;p17"/>
              <p:cNvSpPr txBox="1"/>
              <p:nvPr/>
            </p:nvSpPr>
            <p:spPr>
              <a:xfrm>
                <a:off x="171450" y="142875"/>
                <a:ext cx="2514600" cy="10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0F172A"/>
                    </a:solidFill>
                    <a:latin typeface="Roboto"/>
                    <a:ea typeface="Roboto"/>
                    <a:cs typeface="Roboto"/>
                    <a:sym typeface="Roboto"/>
                  </a:rPr>
                  <a:t>Examples:</a:t>
                </a:r>
                <a:endParaRPr b="1" sz="1100">
                  <a:solidFill>
                    <a:srgbClr val="0F172A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en" sz="950">
                    <a:solidFill>
                      <a:srgbClr val="0F172A"/>
                    </a:solidFill>
                    <a:highlight>
                      <a:srgbClr val="E2E8F0"/>
                    </a:highlight>
                    <a:latin typeface="Roboto SemiBold"/>
                    <a:ea typeface="Roboto SemiBold"/>
                    <a:cs typeface="Roboto SemiBold"/>
                    <a:sym typeface="Roboto SemiBold"/>
                  </a:rPr>
                  <a:t>Okta</a:t>
                </a:r>
                <a:endParaRPr b="0" sz="950">
                  <a:solidFill>
                    <a:srgbClr val="0F172A"/>
                  </a:solidFill>
                  <a:highlight>
                    <a:srgbClr val="E2E8F0"/>
                  </a:highlight>
                  <a:latin typeface="Roboto SemiBold"/>
                  <a:ea typeface="Roboto SemiBold"/>
                  <a:cs typeface="Roboto SemiBold"/>
                  <a:sym typeface="Roboto SemiBold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50">
                    <a:solidFill>
                      <a:srgbClr val="0F172A"/>
                    </a:solidFill>
                    <a:highlight>
                      <a:srgbClr val="E2E8F0"/>
                    </a:highlight>
                    <a:latin typeface="Roboto SemiBold"/>
                    <a:ea typeface="Roboto SemiBold"/>
                    <a:cs typeface="Roboto SemiBold"/>
                    <a:sym typeface="Roboto SemiBold"/>
                  </a:rPr>
                  <a:t>Microsoft</a:t>
                </a:r>
                <a:r>
                  <a:rPr lang="en" sz="950">
                    <a:solidFill>
                      <a:srgbClr val="0F172A"/>
                    </a:solidFill>
                    <a:highlight>
                      <a:srgbClr val="E2E8F0"/>
                    </a:highlight>
                    <a:latin typeface="Roboto SemiBold"/>
                    <a:ea typeface="Roboto SemiBold"/>
                    <a:cs typeface="Roboto SemiBold"/>
                    <a:sym typeface="Roboto SemiBold"/>
                  </a:rPr>
                  <a:t> </a:t>
                </a:r>
                <a:r>
                  <a:rPr b="0" lang="en" sz="950">
                    <a:solidFill>
                      <a:srgbClr val="0F172A"/>
                    </a:solidFill>
                    <a:highlight>
                      <a:srgbClr val="E2E8F0"/>
                    </a:highlight>
                    <a:latin typeface="Roboto SemiBold"/>
                    <a:ea typeface="Roboto SemiBold"/>
                    <a:cs typeface="Roboto SemiBold"/>
                    <a:sym typeface="Roboto SemiBold"/>
                  </a:rPr>
                  <a:t>Entra ID</a:t>
                </a:r>
                <a:endParaRPr b="0" sz="950">
                  <a:solidFill>
                    <a:srgbClr val="0F172A"/>
                  </a:solidFill>
                  <a:highlight>
                    <a:srgbClr val="E2E8F0"/>
                  </a:highlight>
                  <a:latin typeface="Roboto SemiBold"/>
                  <a:ea typeface="Roboto SemiBold"/>
                  <a:cs typeface="Roboto SemiBold"/>
                  <a:sym typeface="Roboto SemiBold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50">
                    <a:solidFill>
                      <a:srgbClr val="0F172A"/>
                    </a:solidFill>
                    <a:highlight>
                      <a:srgbClr val="E2E8F0"/>
                    </a:highlight>
                    <a:latin typeface="Roboto SemiBold"/>
                    <a:ea typeface="Roboto SemiBold"/>
                    <a:cs typeface="Roboto SemiBold"/>
                    <a:sym typeface="Roboto SemiBold"/>
                  </a:rPr>
                  <a:t>Keycloak</a:t>
                </a:r>
                <a:endParaRPr b="0" sz="950">
                  <a:solidFill>
                    <a:srgbClr val="0F172A"/>
                  </a:solidFill>
                  <a:highlight>
                    <a:srgbClr val="E2E8F0"/>
                  </a:highlight>
                  <a:latin typeface="Roboto SemiBold"/>
                  <a:ea typeface="Roboto SemiBold"/>
                  <a:cs typeface="Roboto SemiBold"/>
                  <a:sym typeface="Roboto SemiBold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50">
                    <a:solidFill>
                      <a:srgbClr val="0F172A"/>
                    </a:solidFill>
                    <a:highlight>
                      <a:srgbClr val="E2E8F0"/>
                    </a:highlight>
                    <a:latin typeface="Roboto SemiBold"/>
                    <a:ea typeface="Roboto SemiBold"/>
                    <a:cs typeface="Roboto SemiBold"/>
                    <a:sym typeface="Roboto SemiBold"/>
                  </a:rPr>
                  <a:t>InstaSafe</a:t>
                </a:r>
                <a:endParaRPr/>
              </a:p>
            </p:txBody>
          </p:sp>
        </p:grpSp>
      </p:grpSp>
      <p:cxnSp>
        <p:nvCxnSpPr>
          <p:cNvPr id="164" name="Google Shape;164;p17"/>
          <p:cNvCxnSpPr/>
          <p:nvPr/>
        </p:nvCxnSpPr>
        <p:spPr>
          <a:xfrm>
            <a:off x="476250" y="4524375"/>
            <a:ext cx="81915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5" name="Google Shape;165;p17"/>
          <p:cNvSpPr txBox="1"/>
          <p:nvPr/>
        </p:nvSpPr>
        <p:spPr>
          <a:xfrm>
            <a:off x="476250" y="4667250"/>
            <a:ext cx="2667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LAB</a:t>
            </a:r>
            <a:endParaRPr b="1" sz="800">
              <a:solidFill>
                <a:srgbClr val="64748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75"/>
              </a:spcBef>
              <a:spcAft>
                <a:spcPts val="0"/>
              </a:spcAft>
              <a:buNone/>
            </a:pPr>
            <a:r>
              <a:rPr b="0" lang="en" sz="825">
                <a:solidFill>
                  <a:srgbClr val="0F172A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Cross Functional Learning Lab</a:t>
            </a:r>
            <a:endParaRPr b="0" sz="825">
              <a:solidFill>
                <a:srgbClr val="0F172A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166" name="Google Shape;166;p17"/>
          <p:cNvSpPr txBox="1"/>
          <p:nvPr/>
        </p:nvSpPr>
        <p:spPr>
          <a:xfrm>
            <a:off x="3619500" y="466725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PRESENTER</a:t>
            </a:r>
            <a:endParaRPr b="1" sz="800">
              <a:solidFill>
                <a:srgbClr val="64748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75"/>
              </a:spcBef>
              <a:spcAft>
                <a:spcPts val="0"/>
              </a:spcAft>
              <a:buNone/>
            </a:pPr>
            <a:r>
              <a:rPr b="0" lang="en" sz="825">
                <a:solidFill>
                  <a:srgbClr val="0F172A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Baishnabi Samal</a:t>
            </a:r>
            <a:endParaRPr b="0" sz="825">
              <a:solidFill>
                <a:srgbClr val="0F172A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167" name="Google Shape;167;p17"/>
          <p:cNvSpPr txBox="1"/>
          <p:nvPr/>
        </p:nvSpPr>
        <p:spPr>
          <a:xfrm>
            <a:off x="6762750" y="466725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DATE</a:t>
            </a:r>
            <a:endParaRPr b="1" sz="800">
              <a:solidFill>
                <a:srgbClr val="64748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75"/>
              </a:spcBef>
              <a:spcAft>
                <a:spcPts val="0"/>
              </a:spcAft>
              <a:buNone/>
            </a:pPr>
            <a:r>
              <a:rPr b="0" lang="en" sz="825">
                <a:solidFill>
                  <a:srgbClr val="0F172A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July 2, 2026</a:t>
            </a:r>
            <a:endParaRPr b="0" sz="825">
              <a:solidFill>
                <a:srgbClr val="0F172A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8"/>
          <p:cNvSpPr txBox="1"/>
          <p:nvPr/>
        </p:nvSpPr>
        <p:spPr>
          <a:xfrm>
            <a:off x="476250" y="333375"/>
            <a:ext cx="81915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F172A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VPN vs Zero Trust Comparison</a:t>
            </a:r>
            <a:endParaRPr b="0" sz="1100">
              <a:solidFill>
                <a:srgbClr val="47556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74" name="Google Shape;174;p18"/>
          <p:cNvGrpSpPr/>
          <p:nvPr/>
        </p:nvGrpSpPr>
        <p:grpSpPr>
          <a:xfrm>
            <a:off x="476250" y="1238250"/>
            <a:ext cx="8191650" cy="381000"/>
            <a:chOff x="476250" y="1238250"/>
            <a:chExt cx="8191650" cy="381000"/>
          </a:xfrm>
        </p:grpSpPr>
        <p:sp>
          <p:nvSpPr>
            <p:cNvPr id="175" name="Google Shape;175;p18"/>
            <p:cNvSpPr/>
            <p:nvPr/>
          </p:nvSpPr>
          <p:spPr>
            <a:xfrm>
              <a:off x="476250" y="1238250"/>
              <a:ext cx="2095500" cy="381000"/>
            </a:xfrm>
            <a:prstGeom prst="roundRect">
              <a:avLst>
                <a:gd fmla="val 10000" name="adj"/>
              </a:avLst>
            </a:prstGeom>
            <a:solidFill>
              <a:srgbClr val="47556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8"/>
            <p:cNvSpPr/>
            <p:nvPr/>
          </p:nvSpPr>
          <p:spPr>
            <a:xfrm>
              <a:off x="2619375" y="1238250"/>
              <a:ext cx="2667000" cy="381000"/>
            </a:xfrm>
            <a:prstGeom prst="roundRect">
              <a:avLst>
                <a:gd fmla="val 10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8"/>
            <p:cNvSpPr/>
            <p:nvPr/>
          </p:nvSpPr>
          <p:spPr>
            <a:xfrm>
              <a:off x="5334000" y="1238250"/>
              <a:ext cx="3333900" cy="381000"/>
            </a:xfrm>
            <a:prstGeom prst="roundRect">
              <a:avLst>
                <a:gd fmla="val 10000" name="adj"/>
              </a:avLst>
            </a:prstGeom>
            <a:solidFill>
              <a:srgbClr val="0B254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18"/>
            <p:cNvSpPr txBox="1"/>
            <p:nvPr/>
          </p:nvSpPr>
          <p:spPr>
            <a:xfrm>
              <a:off x="476250" y="1238250"/>
              <a:ext cx="209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Feature</a:t>
              </a:r>
              <a:endParaRPr b="1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9" name="Google Shape;179;p18"/>
            <p:cNvSpPr txBox="1"/>
            <p:nvPr/>
          </p:nvSpPr>
          <p:spPr>
            <a:xfrm>
              <a:off x="2619375" y="1238250"/>
              <a:ext cx="2667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38BDF8"/>
                  </a:solidFill>
                  <a:latin typeface="Roboto"/>
                  <a:ea typeface="Roboto"/>
                  <a:cs typeface="Roboto"/>
                  <a:sym typeface="Roboto"/>
                </a:rPr>
                <a:t>Traditional VPN</a:t>
              </a:r>
              <a:endParaRPr b="1" sz="1100">
                <a:solidFill>
                  <a:srgbClr val="38BDF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0" name="Google Shape;180;p18"/>
            <p:cNvSpPr txBox="1"/>
            <p:nvPr/>
          </p:nvSpPr>
          <p:spPr>
            <a:xfrm>
              <a:off x="5334000" y="1238250"/>
              <a:ext cx="3333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34D399"/>
                  </a:solidFill>
                  <a:latin typeface="Roboto"/>
                  <a:ea typeface="Roboto"/>
                  <a:cs typeface="Roboto"/>
                  <a:sym typeface="Roboto"/>
                </a:rPr>
                <a:t>Zero Trust Architecture</a:t>
              </a:r>
              <a:endParaRPr b="1" sz="1100">
                <a:solidFill>
                  <a:srgbClr val="34D39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81" name="Google Shape;181;p18"/>
          <p:cNvGrpSpPr/>
          <p:nvPr/>
        </p:nvGrpSpPr>
        <p:grpSpPr>
          <a:xfrm>
            <a:off x="476250" y="1666875"/>
            <a:ext cx="8191650" cy="324000"/>
            <a:chOff x="476250" y="1666875"/>
            <a:chExt cx="8191650" cy="324000"/>
          </a:xfrm>
        </p:grpSpPr>
        <p:sp>
          <p:nvSpPr>
            <p:cNvPr id="182" name="Google Shape;182;p18"/>
            <p:cNvSpPr/>
            <p:nvPr/>
          </p:nvSpPr>
          <p:spPr>
            <a:xfrm>
              <a:off x="476250" y="1666875"/>
              <a:ext cx="8191500" cy="324000"/>
            </a:xfrm>
            <a:prstGeom prst="roundRect">
              <a:avLst>
                <a:gd fmla="val 11764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8"/>
            <p:cNvSpPr txBox="1"/>
            <p:nvPr/>
          </p:nvSpPr>
          <p:spPr>
            <a:xfrm>
              <a:off x="619125" y="1666875"/>
              <a:ext cx="19050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E293B"/>
                  </a:solidFill>
                  <a:latin typeface="Roboto"/>
                  <a:ea typeface="Roboto"/>
                  <a:cs typeface="Roboto"/>
                  <a:sym typeface="Roboto"/>
                </a:rPr>
                <a:t>Access Scope</a:t>
              </a:r>
              <a:endParaRPr b="1" sz="10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4" name="Google Shape;184;p18"/>
            <p:cNvSpPr txBox="1"/>
            <p:nvPr/>
          </p:nvSpPr>
          <p:spPr>
            <a:xfrm>
              <a:off x="2619375" y="1666875"/>
              <a:ext cx="26670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Broad Network Access</a:t>
              </a:r>
              <a:endParaRPr b="0" sz="1000">
                <a:solidFill>
                  <a:srgbClr val="475569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185" name="Google Shape;185;p18"/>
            <p:cNvSpPr txBox="1"/>
            <p:nvPr/>
          </p:nvSpPr>
          <p:spPr>
            <a:xfrm>
              <a:off x="5334000" y="1666875"/>
              <a:ext cx="33339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047857"/>
                  </a:solidFill>
                  <a:latin typeface="Roboto SemiBold"/>
                  <a:ea typeface="Roboto SemiBold"/>
                  <a:cs typeface="Roboto SemiBold"/>
                  <a:sym typeface="Roboto SemiBold"/>
                </a:rPr>
                <a:t>App-Specific Micro-Segmentation</a:t>
              </a:r>
              <a:endParaRPr b="0" sz="1000">
                <a:solidFill>
                  <a:srgbClr val="047857"/>
                </a:solidFill>
                <a:latin typeface="Roboto SemiBold"/>
                <a:ea typeface="Roboto SemiBold"/>
                <a:cs typeface="Roboto SemiBold"/>
                <a:sym typeface="Roboto SemiBold"/>
              </a:endParaRPr>
            </a:p>
          </p:txBody>
        </p:sp>
      </p:grpSp>
      <p:grpSp>
        <p:nvGrpSpPr>
          <p:cNvPr id="186" name="Google Shape;186;p18"/>
          <p:cNvGrpSpPr/>
          <p:nvPr/>
        </p:nvGrpSpPr>
        <p:grpSpPr>
          <a:xfrm>
            <a:off x="476250" y="2019300"/>
            <a:ext cx="8191650" cy="324000"/>
            <a:chOff x="476250" y="2019300"/>
            <a:chExt cx="8191650" cy="324000"/>
          </a:xfrm>
        </p:grpSpPr>
        <p:sp>
          <p:nvSpPr>
            <p:cNvPr id="187" name="Google Shape;187;p18"/>
            <p:cNvSpPr/>
            <p:nvPr/>
          </p:nvSpPr>
          <p:spPr>
            <a:xfrm>
              <a:off x="476250" y="2019300"/>
              <a:ext cx="8191500" cy="324000"/>
            </a:xfrm>
            <a:prstGeom prst="roundRect">
              <a:avLst>
                <a:gd fmla="val 11764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8"/>
            <p:cNvSpPr txBox="1"/>
            <p:nvPr/>
          </p:nvSpPr>
          <p:spPr>
            <a:xfrm>
              <a:off x="619125" y="2019300"/>
              <a:ext cx="19050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E293B"/>
                  </a:solidFill>
                  <a:latin typeface="Roboto"/>
                  <a:ea typeface="Roboto"/>
                  <a:cs typeface="Roboto"/>
                  <a:sym typeface="Roboto"/>
                </a:rPr>
                <a:t>Trust Model</a:t>
              </a:r>
              <a:endParaRPr b="1" sz="10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9" name="Google Shape;189;p18"/>
            <p:cNvSpPr txBox="1"/>
            <p:nvPr/>
          </p:nvSpPr>
          <p:spPr>
            <a:xfrm>
              <a:off x="2619375" y="2019300"/>
              <a:ext cx="26670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Implicit Trust After Login</a:t>
              </a:r>
              <a:endParaRPr b="0" sz="1000">
                <a:solidFill>
                  <a:srgbClr val="475569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190" name="Google Shape;190;p18"/>
            <p:cNvSpPr txBox="1"/>
            <p:nvPr/>
          </p:nvSpPr>
          <p:spPr>
            <a:xfrm>
              <a:off x="5334000" y="2019300"/>
              <a:ext cx="33339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047857"/>
                  </a:solidFill>
                  <a:latin typeface="Roboto SemiBold"/>
                  <a:ea typeface="Roboto SemiBold"/>
                  <a:cs typeface="Roboto SemiBold"/>
                  <a:sym typeface="Roboto SemiBold"/>
                </a:rPr>
                <a:t>Continuous Verification (Never Trust)</a:t>
              </a:r>
              <a:endParaRPr b="0" sz="1000">
                <a:solidFill>
                  <a:srgbClr val="047857"/>
                </a:solidFill>
                <a:latin typeface="Roboto SemiBold"/>
                <a:ea typeface="Roboto SemiBold"/>
                <a:cs typeface="Roboto SemiBold"/>
                <a:sym typeface="Roboto SemiBold"/>
              </a:endParaRPr>
            </a:p>
          </p:txBody>
        </p:sp>
      </p:grpSp>
      <p:grpSp>
        <p:nvGrpSpPr>
          <p:cNvPr id="191" name="Google Shape;191;p18"/>
          <p:cNvGrpSpPr/>
          <p:nvPr/>
        </p:nvGrpSpPr>
        <p:grpSpPr>
          <a:xfrm>
            <a:off x="476250" y="2371725"/>
            <a:ext cx="8191650" cy="324000"/>
            <a:chOff x="476250" y="2371725"/>
            <a:chExt cx="8191650" cy="324000"/>
          </a:xfrm>
        </p:grpSpPr>
        <p:sp>
          <p:nvSpPr>
            <p:cNvPr id="192" name="Google Shape;192;p18"/>
            <p:cNvSpPr/>
            <p:nvPr/>
          </p:nvSpPr>
          <p:spPr>
            <a:xfrm>
              <a:off x="476250" y="2371725"/>
              <a:ext cx="8191500" cy="324000"/>
            </a:xfrm>
            <a:prstGeom prst="roundRect">
              <a:avLst>
                <a:gd fmla="val 11764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8"/>
            <p:cNvSpPr txBox="1"/>
            <p:nvPr/>
          </p:nvSpPr>
          <p:spPr>
            <a:xfrm>
              <a:off x="619125" y="2371725"/>
              <a:ext cx="19050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E293B"/>
                  </a:solidFill>
                  <a:latin typeface="Roboto"/>
                  <a:ea typeface="Roboto"/>
                  <a:cs typeface="Roboto"/>
                  <a:sym typeface="Roboto"/>
                </a:rPr>
                <a:t>Authentication</a:t>
              </a:r>
              <a:endParaRPr b="1" sz="10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4" name="Google Shape;194;p18"/>
            <p:cNvSpPr txBox="1"/>
            <p:nvPr/>
          </p:nvSpPr>
          <p:spPr>
            <a:xfrm>
              <a:off x="2619375" y="2371725"/>
              <a:ext cx="26670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Username / Password (Static)</a:t>
              </a:r>
              <a:endParaRPr b="0" sz="1000">
                <a:solidFill>
                  <a:srgbClr val="475569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195" name="Google Shape;195;p18"/>
            <p:cNvSpPr txBox="1"/>
            <p:nvPr/>
          </p:nvSpPr>
          <p:spPr>
            <a:xfrm>
              <a:off x="5334000" y="2371725"/>
              <a:ext cx="33339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047857"/>
                  </a:solidFill>
                  <a:latin typeface="Roboto SemiBold"/>
                  <a:ea typeface="Roboto SemiBold"/>
                  <a:cs typeface="Roboto SemiBold"/>
                  <a:sym typeface="Roboto SemiBold"/>
                </a:rPr>
                <a:t>MFA + Context-Aware Identity</a:t>
              </a:r>
              <a:endParaRPr b="0" sz="1000">
                <a:solidFill>
                  <a:srgbClr val="047857"/>
                </a:solidFill>
                <a:latin typeface="Roboto SemiBold"/>
                <a:ea typeface="Roboto SemiBold"/>
                <a:cs typeface="Roboto SemiBold"/>
                <a:sym typeface="Roboto SemiBold"/>
              </a:endParaRPr>
            </a:p>
          </p:txBody>
        </p:sp>
      </p:grpSp>
      <p:grpSp>
        <p:nvGrpSpPr>
          <p:cNvPr id="196" name="Google Shape;196;p18"/>
          <p:cNvGrpSpPr/>
          <p:nvPr/>
        </p:nvGrpSpPr>
        <p:grpSpPr>
          <a:xfrm>
            <a:off x="476250" y="2724150"/>
            <a:ext cx="8191650" cy="324000"/>
            <a:chOff x="476250" y="2724150"/>
            <a:chExt cx="8191650" cy="324000"/>
          </a:xfrm>
        </p:grpSpPr>
        <p:sp>
          <p:nvSpPr>
            <p:cNvPr id="197" name="Google Shape;197;p18"/>
            <p:cNvSpPr/>
            <p:nvPr/>
          </p:nvSpPr>
          <p:spPr>
            <a:xfrm>
              <a:off x="476250" y="2724150"/>
              <a:ext cx="8191500" cy="324000"/>
            </a:xfrm>
            <a:prstGeom prst="roundRect">
              <a:avLst>
                <a:gd fmla="val 11764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8"/>
            <p:cNvSpPr txBox="1"/>
            <p:nvPr/>
          </p:nvSpPr>
          <p:spPr>
            <a:xfrm>
              <a:off x="619125" y="2724150"/>
              <a:ext cx="19050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E293B"/>
                  </a:solidFill>
                  <a:latin typeface="Roboto"/>
                  <a:ea typeface="Roboto"/>
                  <a:cs typeface="Roboto"/>
                  <a:sym typeface="Roboto"/>
                </a:rPr>
                <a:t>Security Posture</a:t>
              </a:r>
              <a:endParaRPr b="1" sz="10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9" name="Google Shape;199;p18"/>
            <p:cNvSpPr txBox="1"/>
            <p:nvPr/>
          </p:nvSpPr>
          <p:spPr>
            <a:xfrm>
              <a:off x="2619375" y="2724150"/>
              <a:ext cx="26670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DC2626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Medium (Perimeter-reliant)</a:t>
              </a:r>
              <a:endParaRPr b="0" sz="1000">
                <a:solidFill>
                  <a:srgbClr val="DC2626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200" name="Google Shape;200;p18"/>
            <p:cNvSpPr txBox="1"/>
            <p:nvPr/>
          </p:nvSpPr>
          <p:spPr>
            <a:xfrm>
              <a:off x="5334000" y="2724150"/>
              <a:ext cx="33339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047857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High (Fully-segmented)</a:t>
              </a:r>
              <a:endParaRPr b="0" sz="1000">
                <a:solidFill>
                  <a:srgbClr val="047857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</p:txBody>
        </p:sp>
      </p:grpSp>
      <p:grpSp>
        <p:nvGrpSpPr>
          <p:cNvPr id="201" name="Google Shape;201;p18"/>
          <p:cNvGrpSpPr/>
          <p:nvPr/>
        </p:nvGrpSpPr>
        <p:grpSpPr>
          <a:xfrm>
            <a:off x="476250" y="3076575"/>
            <a:ext cx="8191650" cy="324000"/>
            <a:chOff x="476250" y="3076575"/>
            <a:chExt cx="8191650" cy="324000"/>
          </a:xfrm>
        </p:grpSpPr>
        <p:sp>
          <p:nvSpPr>
            <p:cNvPr id="202" name="Google Shape;202;p18"/>
            <p:cNvSpPr/>
            <p:nvPr/>
          </p:nvSpPr>
          <p:spPr>
            <a:xfrm>
              <a:off x="476250" y="3076575"/>
              <a:ext cx="8191500" cy="324000"/>
            </a:xfrm>
            <a:prstGeom prst="roundRect">
              <a:avLst>
                <a:gd fmla="val 11764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18"/>
            <p:cNvSpPr txBox="1"/>
            <p:nvPr/>
          </p:nvSpPr>
          <p:spPr>
            <a:xfrm>
              <a:off x="619125" y="3076575"/>
              <a:ext cx="19050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E293B"/>
                  </a:solidFill>
                  <a:latin typeface="Roboto"/>
                  <a:ea typeface="Roboto"/>
                  <a:cs typeface="Roboto"/>
                  <a:sym typeface="Roboto"/>
                </a:rPr>
                <a:t>Device Integrity Check</a:t>
              </a:r>
              <a:endParaRPr b="1" sz="10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4" name="Google Shape;204;p18"/>
            <p:cNvSpPr txBox="1"/>
            <p:nvPr/>
          </p:nvSpPr>
          <p:spPr>
            <a:xfrm>
              <a:off x="2619375" y="3076575"/>
              <a:ext cx="26670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Usually No</a:t>
              </a:r>
              <a:endParaRPr b="0" sz="1000">
                <a:solidFill>
                  <a:srgbClr val="475569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205" name="Google Shape;205;p18"/>
            <p:cNvSpPr txBox="1"/>
            <p:nvPr/>
          </p:nvSpPr>
          <p:spPr>
            <a:xfrm>
              <a:off x="5334000" y="3076575"/>
              <a:ext cx="33339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047857"/>
                  </a:solidFill>
                  <a:latin typeface="Roboto SemiBold"/>
                  <a:ea typeface="Roboto SemiBold"/>
                  <a:cs typeface="Roboto SemiBold"/>
                  <a:sym typeface="Roboto SemiBold"/>
                </a:rPr>
                <a:t>Yes (Strict Compliance &amp; Health Checks)</a:t>
              </a:r>
              <a:endParaRPr b="0" sz="1000">
                <a:solidFill>
                  <a:srgbClr val="047857"/>
                </a:solidFill>
                <a:latin typeface="Roboto SemiBold"/>
                <a:ea typeface="Roboto SemiBold"/>
                <a:cs typeface="Roboto SemiBold"/>
                <a:sym typeface="Roboto SemiBold"/>
              </a:endParaRPr>
            </a:p>
          </p:txBody>
        </p:sp>
      </p:grpSp>
      <p:grpSp>
        <p:nvGrpSpPr>
          <p:cNvPr id="206" name="Google Shape;206;p18"/>
          <p:cNvGrpSpPr/>
          <p:nvPr/>
        </p:nvGrpSpPr>
        <p:grpSpPr>
          <a:xfrm>
            <a:off x="476250" y="3429000"/>
            <a:ext cx="8191650" cy="324000"/>
            <a:chOff x="476250" y="3429000"/>
            <a:chExt cx="8191650" cy="324000"/>
          </a:xfrm>
        </p:grpSpPr>
        <p:sp>
          <p:nvSpPr>
            <p:cNvPr id="207" name="Google Shape;207;p18"/>
            <p:cNvSpPr/>
            <p:nvPr/>
          </p:nvSpPr>
          <p:spPr>
            <a:xfrm>
              <a:off x="476250" y="3429000"/>
              <a:ext cx="8191500" cy="324000"/>
            </a:xfrm>
            <a:prstGeom prst="roundRect">
              <a:avLst>
                <a:gd fmla="val 11764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8"/>
            <p:cNvSpPr txBox="1"/>
            <p:nvPr/>
          </p:nvSpPr>
          <p:spPr>
            <a:xfrm>
              <a:off x="619125" y="3429000"/>
              <a:ext cx="19050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E293B"/>
                  </a:solidFill>
                  <a:latin typeface="Roboto"/>
                  <a:ea typeface="Roboto"/>
                  <a:cs typeface="Roboto"/>
                  <a:sym typeface="Roboto"/>
                </a:rPr>
                <a:t>Least Privilege Access</a:t>
              </a:r>
              <a:endParaRPr b="1" sz="10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9" name="Google Shape;209;p18"/>
            <p:cNvSpPr txBox="1"/>
            <p:nvPr/>
          </p:nvSpPr>
          <p:spPr>
            <a:xfrm>
              <a:off x="2619375" y="3429000"/>
              <a:ext cx="26670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Limited (Vulnerable to Lateral Movement)</a:t>
              </a:r>
              <a:endParaRPr b="0" sz="1000">
                <a:solidFill>
                  <a:srgbClr val="475569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210" name="Google Shape;210;p18"/>
            <p:cNvSpPr txBox="1"/>
            <p:nvPr/>
          </p:nvSpPr>
          <p:spPr>
            <a:xfrm>
              <a:off x="5334000" y="3429000"/>
              <a:ext cx="33339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047857"/>
                  </a:solidFill>
                  <a:latin typeface="Roboto SemiBold"/>
                  <a:ea typeface="Roboto SemiBold"/>
                  <a:cs typeface="Roboto SemiBold"/>
                  <a:sym typeface="Roboto SemiBold"/>
                </a:rPr>
                <a:t>Yes (Granular App Policies)</a:t>
              </a:r>
              <a:endParaRPr b="0" sz="1000">
                <a:solidFill>
                  <a:srgbClr val="047857"/>
                </a:solidFill>
                <a:latin typeface="Roboto SemiBold"/>
                <a:ea typeface="Roboto SemiBold"/>
                <a:cs typeface="Roboto SemiBold"/>
                <a:sym typeface="Roboto SemiBold"/>
              </a:endParaRPr>
            </a:p>
          </p:txBody>
        </p:sp>
      </p:grpSp>
      <p:grpSp>
        <p:nvGrpSpPr>
          <p:cNvPr id="211" name="Google Shape;211;p18"/>
          <p:cNvGrpSpPr/>
          <p:nvPr/>
        </p:nvGrpSpPr>
        <p:grpSpPr>
          <a:xfrm>
            <a:off x="476250" y="3781425"/>
            <a:ext cx="8191650" cy="324000"/>
            <a:chOff x="476250" y="3781425"/>
            <a:chExt cx="8191650" cy="324000"/>
          </a:xfrm>
        </p:grpSpPr>
        <p:sp>
          <p:nvSpPr>
            <p:cNvPr id="212" name="Google Shape;212;p18"/>
            <p:cNvSpPr/>
            <p:nvPr/>
          </p:nvSpPr>
          <p:spPr>
            <a:xfrm>
              <a:off x="476250" y="3781425"/>
              <a:ext cx="8191500" cy="324000"/>
            </a:xfrm>
            <a:prstGeom prst="roundRect">
              <a:avLst>
                <a:gd fmla="val 11764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18"/>
            <p:cNvSpPr txBox="1"/>
            <p:nvPr/>
          </p:nvSpPr>
          <p:spPr>
            <a:xfrm>
              <a:off x="619125" y="3781425"/>
              <a:ext cx="19050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E293B"/>
                  </a:solidFill>
                  <a:latin typeface="Roboto"/>
                  <a:ea typeface="Roboto"/>
                  <a:cs typeface="Roboto"/>
                  <a:sym typeface="Roboto"/>
                </a:rPr>
                <a:t>Monitoring &amp; Audit</a:t>
              </a:r>
              <a:endParaRPr b="1" sz="1000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4" name="Google Shape;214;p18"/>
            <p:cNvSpPr txBox="1"/>
            <p:nvPr/>
          </p:nvSpPr>
          <p:spPr>
            <a:xfrm>
              <a:off x="2619375" y="3781425"/>
              <a:ext cx="26670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Basic Logins Only</a:t>
              </a:r>
              <a:endParaRPr b="0" sz="1000">
                <a:solidFill>
                  <a:srgbClr val="475569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215" name="Google Shape;215;p18"/>
            <p:cNvSpPr txBox="1"/>
            <p:nvPr/>
          </p:nvSpPr>
          <p:spPr>
            <a:xfrm>
              <a:off x="5334000" y="3781425"/>
              <a:ext cx="33339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047857"/>
                  </a:solidFill>
                  <a:latin typeface="Roboto SemiBold"/>
                  <a:ea typeface="Roboto SemiBold"/>
                  <a:cs typeface="Roboto SemiBold"/>
                  <a:sym typeface="Roboto SemiBold"/>
                </a:rPr>
                <a:t>Continuous Session &amp; Behavior Analytics</a:t>
              </a:r>
              <a:endParaRPr b="0" sz="1000">
                <a:solidFill>
                  <a:srgbClr val="047857"/>
                </a:solidFill>
                <a:latin typeface="Roboto SemiBold"/>
                <a:ea typeface="Roboto SemiBold"/>
                <a:cs typeface="Roboto SemiBold"/>
                <a:sym typeface="Roboto SemiBold"/>
              </a:endParaRPr>
            </a:p>
          </p:txBody>
        </p:sp>
      </p:grpSp>
      <p:cxnSp>
        <p:nvCxnSpPr>
          <p:cNvPr id="216" name="Google Shape;216;p18"/>
          <p:cNvCxnSpPr/>
          <p:nvPr/>
        </p:nvCxnSpPr>
        <p:spPr>
          <a:xfrm>
            <a:off x="476250" y="4524375"/>
            <a:ext cx="81915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7" name="Google Shape;217;p18"/>
          <p:cNvSpPr txBox="1"/>
          <p:nvPr/>
        </p:nvSpPr>
        <p:spPr>
          <a:xfrm>
            <a:off x="476250" y="4667250"/>
            <a:ext cx="2667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LAB</a:t>
            </a:r>
            <a:endParaRPr b="1" sz="800">
              <a:solidFill>
                <a:srgbClr val="64748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75"/>
              </a:spcBef>
              <a:spcAft>
                <a:spcPts val="0"/>
              </a:spcAft>
              <a:buNone/>
            </a:pPr>
            <a:r>
              <a:rPr b="0" lang="en" sz="825">
                <a:solidFill>
                  <a:srgbClr val="0F172A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Cross Functional Learning Lab</a:t>
            </a:r>
            <a:endParaRPr b="0" sz="825">
              <a:solidFill>
                <a:srgbClr val="0F172A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218" name="Google Shape;218;p18"/>
          <p:cNvSpPr txBox="1"/>
          <p:nvPr/>
        </p:nvSpPr>
        <p:spPr>
          <a:xfrm>
            <a:off x="3619500" y="466725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PRESENTER</a:t>
            </a:r>
            <a:endParaRPr b="1" sz="800">
              <a:solidFill>
                <a:srgbClr val="64748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75"/>
              </a:spcBef>
              <a:spcAft>
                <a:spcPts val="0"/>
              </a:spcAft>
              <a:buNone/>
            </a:pPr>
            <a:r>
              <a:rPr b="0" lang="en" sz="825">
                <a:solidFill>
                  <a:srgbClr val="0F172A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Baishnabi Samal</a:t>
            </a:r>
            <a:endParaRPr b="0" sz="825">
              <a:solidFill>
                <a:srgbClr val="0F172A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219" name="Google Shape;219;p18"/>
          <p:cNvSpPr txBox="1"/>
          <p:nvPr/>
        </p:nvSpPr>
        <p:spPr>
          <a:xfrm>
            <a:off x="6762750" y="466725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DATE</a:t>
            </a:r>
            <a:endParaRPr b="1" sz="800">
              <a:solidFill>
                <a:srgbClr val="64748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75"/>
              </a:spcBef>
              <a:spcAft>
                <a:spcPts val="0"/>
              </a:spcAft>
              <a:buNone/>
            </a:pPr>
            <a:r>
              <a:rPr b="0" lang="en" sz="825">
                <a:solidFill>
                  <a:srgbClr val="0F172A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July 2, 2026</a:t>
            </a:r>
            <a:endParaRPr b="0" sz="825">
              <a:solidFill>
                <a:srgbClr val="0F172A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9"/>
          <p:cNvSpPr txBox="1"/>
          <p:nvPr/>
        </p:nvSpPr>
        <p:spPr>
          <a:xfrm>
            <a:off x="476250" y="333375"/>
            <a:ext cx="81915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600">
                <a:solidFill>
                  <a:srgbClr val="0F172A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Architecture Comparison</a:t>
            </a:r>
            <a:endParaRPr b="0" sz="2600">
              <a:solidFill>
                <a:srgbClr val="0F172A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Side-by-side visualization of perimeter network tunneling versus modern micro-segmented application access.</a:t>
            </a:r>
            <a:endParaRPr b="0" sz="1100">
              <a:solidFill>
                <a:srgbClr val="47556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26" name="Google Shape;226;p19"/>
          <p:cNvGrpSpPr/>
          <p:nvPr/>
        </p:nvGrpSpPr>
        <p:grpSpPr>
          <a:xfrm>
            <a:off x="1367350" y="1285913"/>
            <a:ext cx="2571900" cy="3095700"/>
            <a:chOff x="0" y="0"/>
            <a:chExt cx="2571900" cy="3095700"/>
          </a:xfrm>
        </p:grpSpPr>
        <p:sp>
          <p:nvSpPr>
            <p:cNvPr id="227" name="Google Shape;227;p19"/>
            <p:cNvSpPr/>
            <p:nvPr/>
          </p:nvSpPr>
          <p:spPr>
            <a:xfrm>
              <a:off x="0" y="0"/>
              <a:ext cx="2571900" cy="3095700"/>
            </a:xfrm>
            <a:prstGeom prst="roundRect">
              <a:avLst>
                <a:gd fmla="val 5925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19"/>
            <p:cNvSpPr/>
            <p:nvPr/>
          </p:nvSpPr>
          <p:spPr>
            <a:xfrm>
              <a:off x="0" y="0"/>
              <a:ext cx="2571900" cy="428700"/>
            </a:xfrm>
            <a:prstGeom prst="roundRect">
              <a:avLst>
                <a:gd fmla="val 35555" name="adj"/>
              </a:avLst>
            </a:prstGeom>
            <a:solidFill>
              <a:srgbClr val="33415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19"/>
            <p:cNvSpPr/>
            <p:nvPr/>
          </p:nvSpPr>
          <p:spPr>
            <a:xfrm>
              <a:off x="0" y="238125"/>
              <a:ext cx="2571900" cy="190500"/>
            </a:xfrm>
            <a:prstGeom prst="rect">
              <a:avLst/>
            </a:prstGeom>
            <a:solidFill>
              <a:srgbClr val="33415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19"/>
            <p:cNvSpPr txBox="1"/>
            <p:nvPr/>
          </p:nvSpPr>
          <p:spPr>
            <a:xfrm>
              <a:off x="190500" y="114300"/>
              <a:ext cx="21909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FFFFFF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Traditional VPN</a:t>
              </a:r>
              <a:endParaRPr b="0" sz="1400">
                <a:solidFill>
                  <a:srgbClr val="FFFFFF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</p:txBody>
        </p:sp>
        <p:grpSp>
          <p:nvGrpSpPr>
            <p:cNvPr id="231" name="Google Shape;231;p19"/>
            <p:cNvGrpSpPr/>
            <p:nvPr/>
          </p:nvGrpSpPr>
          <p:grpSpPr>
            <a:xfrm>
              <a:off x="428625" y="619125"/>
              <a:ext cx="1714500" cy="1895625"/>
              <a:chOff x="0" y="0"/>
              <a:chExt cx="1714500" cy="1895625"/>
            </a:xfrm>
          </p:grpSpPr>
          <p:grpSp>
            <p:nvGrpSpPr>
              <p:cNvPr id="232" name="Google Shape;232;p19"/>
              <p:cNvGrpSpPr/>
              <p:nvPr/>
            </p:nvGrpSpPr>
            <p:grpSpPr>
              <a:xfrm>
                <a:off x="0" y="0"/>
                <a:ext cx="1714500" cy="324000"/>
                <a:chOff x="0" y="0"/>
                <a:chExt cx="1714500" cy="324000"/>
              </a:xfrm>
            </p:grpSpPr>
            <p:sp>
              <p:nvSpPr>
                <p:cNvPr id="233" name="Google Shape;233;p19"/>
                <p:cNvSpPr/>
                <p:nvPr/>
              </p:nvSpPr>
              <p:spPr>
                <a:xfrm>
                  <a:off x="0" y="0"/>
                  <a:ext cx="1714500" cy="324000"/>
                </a:xfrm>
                <a:prstGeom prst="roundRect">
                  <a:avLst>
                    <a:gd fmla="val 17647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4" name="Google Shape;234;p19"/>
                <p:cNvSpPr txBox="1"/>
                <p:nvPr/>
              </p:nvSpPr>
              <p:spPr>
                <a:xfrm>
                  <a:off x="0" y="0"/>
                  <a:ext cx="1714500" cy="324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000">
                      <a:solidFill>
                        <a:srgbClr val="0F172A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VPN User</a:t>
                  </a:r>
                  <a:endParaRPr b="1" sz="1000">
                    <a:solidFill>
                      <a:srgbClr val="0F172A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</p:grpSp>
          <p:pic>
            <p:nvPicPr>
              <p:cNvPr id="235" name="Google Shape;235;p1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847725" y="323850"/>
                <a:ext cx="19200" cy="200100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236" name="Google Shape;236;p19"/>
              <p:cNvGrpSpPr/>
              <p:nvPr/>
            </p:nvGrpSpPr>
            <p:grpSpPr>
              <a:xfrm>
                <a:off x="0" y="523875"/>
                <a:ext cx="1714500" cy="324000"/>
                <a:chOff x="0" y="0"/>
                <a:chExt cx="1714500" cy="324000"/>
              </a:xfrm>
            </p:grpSpPr>
            <p:sp>
              <p:nvSpPr>
                <p:cNvPr id="237" name="Google Shape;237;p19"/>
                <p:cNvSpPr/>
                <p:nvPr/>
              </p:nvSpPr>
              <p:spPr>
                <a:xfrm>
                  <a:off x="0" y="0"/>
                  <a:ext cx="1714500" cy="324000"/>
                </a:xfrm>
                <a:prstGeom prst="roundRect">
                  <a:avLst>
                    <a:gd fmla="val 17647" name="adj"/>
                  </a:avLst>
                </a:prstGeom>
                <a:solidFill>
                  <a:srgbClr val="38BDF8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8" name="Google Shape;238;p19"/>
                <p:cNvSpPr txBox="1"/>
                <p:nvPr/>
              </p:nvSpPr>
              <p:spPr>
                <a:xfrm>
                  <a:off x="0" y="0"/>
                  <a:ext cx="1714500" cy="324000"/>
                </a:xfrm>
                <a:prstGeom prst="rect">
                  <a:avLst/>
                </a:prstGeom>
                <a:solidFill>
                  <a:srgbClr val="F3F3F3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750">
                    <a:solidFill>
                      <a:srgbClr val="FFFFFF"/>
                    </a:solidFill>
                    <a:highlight>
                      <a:srgbClr val="0369A1"/>
                    </a:highlight>
                    <a:latin typeface="Roboto ExtraBold"/>
                    <a:ea typeface="Roboto ExtraBold"/>
                    <a:cs typeface="Roboto ExtraBold"/>
                    <a:sym typeface="Roboto ExtraBold"/>
                  </a:endParaRPr>
                </a:p>
                <a:p>
                  <a:pPr indent="0" lvl="0" marL="0" rtl="0" algn="ctr">
                    <a:spcBef>
                      <a:spcPts val="150"/>
                    </a:spcBef>
                    <a:spcAft>
                      <a:spcPts val="0"/>
                    </a:spcAft>
                    <a:buNone/>
                  </a:pPr>
                  <a:r>
                    <a:rPr b="1" lang="en" sz="900">
                      <a:solidFill>
                        <a:srgbClr val="0F172A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VPN Tunnel</a:t>
                  </a:r>
                  <a:endParaRPr b="1" sz="900">
                    <a:solidFill>
                      <a:srgbClr val="0F172A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</p:grpSp>
          <p:pic>
            <p:nvPicPr>
              <p:cNvPr id="239" name="Google Shape;239;p1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847725" y="847725"/>
                <a:ext cx="19200" cy="200100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240" name="Google Shape;240;p19"/>
              <p:cNvGrpSpPr/>
              <p:nvPr/>
            </p:nvGrpSpPr>
            <p:grpSpPr>
              <a:xfrm>
                <a:off x="0" y="1047750"/>
                <a:ext cx="1714500" cy="324000"/>
                <a:chOff x="0" y="0"/>
                <a:chExt cx="1714500" cy="324000"/>
              </a:xfrm>
            </p:grpSpPr>
            <p:sp>
              <p:nvSpPr>
                <p:cNvPr id="241" name="Google Shape;241;p19"/>
                <p:cNvSpPr/>
                <p:nvPr/>
              </p:nvSpPr>
              <p:spPr>
                <a:xfrm>
                  <a:off x="0" y="0"/>
                  <a:ext cx="1714500" cy="324000"/>
                </a:xfrm>
                <a:prstGeom prst="roundRect">
                  <a:avLst>
                    <a:gd fmla="val 17647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2" name="Google Shape;242;p19"/>
                <p:cNvSpPr txBox="1"/>
                <p:nvPr/>
              </p:nvSpPr>
              <p:spPr>
                <a:xfrm>
                  <a:off x="0" y="0"/>
                  <a:ext cx="1714500" cy="324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000">
                      <a:solidFill>
                        <a:srgbClr val="0F172A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Corporate Network</a:t>
                  </a:r>
                  <a:endParaRPr b="1" sz="1000">
                    <a:solidFill>
                      <a:srgbClr val="0F172A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</p:grpSp>
          <p:pic>
            <p:nvPicPr>
              <p:cNvPr id="243" name="Google Shape;243;p1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847725" y="1371600"/>
                <a:ext cx="19200" cy="200100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244" name="Google Shape;244;p19"/>
              <p:cNvGrpSpPr/>
              <p:nvPr/>
            </p:nvGrpSpPr>
            <p:grpSpPr>
              <a:xfrm>
                <a:off x="0" y="1571625"/>
                <a:ext cx="1714500" cy="324000"/>
                <a:chOff x="0" y="0"/>
                <a:chExt cx="1714500" cy="324000"/>
              </a:xfrm>
            </p:grpSpPr>
            <p:sp>
              <p:nvSpPr>
                <p:cNvPr id="245" name="Google Shape;245;p19"/>
                <p:cNvSpPr/>
                <p:nvPr/>
              </p:nvSpPr>
              <p:spPr>
                <a:xfrm>
                  <a:off x="0" y="0"/>
                  <a:ext cx="1714500" cy="324000"/>
                </a:xfrm>
                <a:prstGeom prst="roundRect">
                  <a:avLst>
                    <a:gd fmla="val 17647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6" name="Google Shape;246;p19"/>
                <p:cNvSpPr txBox="1"/>
                <p:nvPr/>
              </p:nvSpPr>
              <p:spPr>
                <a:xfrm>
                  <a:off x="0" y="0"/>
                  <a:ext cx="1714500" cy="324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000">
                      <a:solidFill>
                        <a:srgbClr val="0F172A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Applications</a:t>
                  </a:r>
                  <a:endParaRPr b="1" sz="1000">
                    <a:solidFill>
                      <a:srgbClr val="0F172A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</p:grpSp>
        </p:grpSp>
        <p:grpSp>
          <p:nvGrpSpPr>
            <p:cNvPr id="247" name="Google Shape;247;p19"/>
            <p:cNvGrpSpPr/>
            <p:nvPr/>
          </p:nvGrpSpPr>
          <p:grpSpPr>
            <a:xfrm>
              <a:off x="428625" y="2619375"/>
              <a:ext cx="1714500" cy="324000"/>
              <a:chOff x="0" y="0"/>
              <a:chExt cx="1714500" cy="324000"/>
            </a:xfrm>
          </p:grpSpPr>
          <p:sp>
            <p:nvSpPr>
              <p:cNvPr id="248" name="Google Shape;248;p19"/>
              <p:cNvSpPr/>
              <p:nvPr/>
            </p:nvSpPr>
            <p:spPr>
              <a:xfrm>
                <a:off x="0" y="0"/>
                <a:ext cx="1714500" cy="324000"/>
              </a:xfrm>
              <a:prstGeom prst="roundRect">
                <a:avLst>
                  <a:gd fmla="val 17647" name="adj"/>
                </a:avLst>
              </a:prstGeom>
              <a:solidFill>
                <a:srgbClr val="FEE2E2"/>
              </a:solidFill>
              <a:ln cap="flat" cmpd="sng" w="9525">
                <a:solidFill>
                  <a:srgbClr val="FCA5A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" name="Google Shape;249;p19"/>
              <p:cNvSpPr txBox="1"/>
              <p:nvPr/>
            </p:nvSpPr>
            <p:spPr>
              <a:xfrm>
                <a:off x="95250" y="0"/>
                <a:ext cx="15240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50">
                    <a:solidFill>
                      <a:srgbClr val="991B1B"/>
                    </a:solidFill>
                    <a:latin typeface="Roboto SemiBold"/>
                    <a:ea typeface="Roboto SemiBold"/>
                    <a:cs typeface="Roboto SemiBold"/>
                    <a:sym typeface="Roboto SemiBold"/>
                  </a:rPr>
                  <a:t>Full Network Access Granted</a:t>
                </a:r>
                <a:endParaRPr b="0" sz="950">
                  <a:solidFill>
                    <a:srgbClr val="991B1B"/>
                  </a:solidFill>
                  <a:latin typeface="Roboto SemiBold"/>
                  <a:ea typeface="Roboto SemiBold"/>
                  <a:cs typeface="Roboto SemiBold"/>
                  <a:sym typeface="Roboto SemiBold"/>
                </a:endParaRPr>
              </a:p>
            </p:txBody>
          </p:sp>
        </p:grpSp>
      </p:grpSp>
      <p:grpSp>
        <p:nvGrpSpPr>
          <p:cNvPr id="250" name="Google Shape;250;p19"/>
          <p:cNvGrpSpPr/>
          <p:nvPr/>
        </p:nvGrpSpPr>
        <p:grpSpPr>
          <a:xfrm>
            <a:off x="4966775" y="1285913"/>
            <a:ext cx="2571900" cy="3095700"/>
            <a:chOff x="0" y="0"/>
            <a:chExt cx="2571900" cy="3095700"/>
          </a:xfrm>
        </p:grpSpPr>
        <p:sp>
          <p:nvSpPr>
            <p:cNvPr id="251" name="Google Shape;251;p19"/>
            <p:cNvSpPr/>
            <p:nvPr/>
          </p:nvSpPr>
          <p:spPr>
            <a:xfrm>
              <a:off x="0" y="0"/>
              <a:ext cx="2571900" cy="3095700"/>
            </a:xfrm>
            <a:prstGeom prst="roundRect">
              <a:avLst>
                <a:gd fmla="val 5925" name="adj"/>
              </a:avLst>
            </a:prstGeom>
            <a:solidFill>
              <a:srgbClr val="0B254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9"/>
            <p:cNvSpPr/>
            <p:nvPr/>
          </p:nvSpPr>
          <p:spPr>
            <a:xfrm>
              <a:off x="0" y="0"/>
              <a:ext cx="2571900" cy="428700"/>
            </a:xfrm>
            <a:prstGeom prst="roundRect">
              <a:avLst>
                <a:gd fmla="val 35555" name="adj"/>
              </a:avLst>
            </a:prstGeom>
            <a:solidFill>
              <a:srgbClr val="13407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19"/>
            <p:cNvSpPr/>
            <p:nvPr/>
          </p:nvSpPr>
          <p:spPr>
            <a:xfrm>
              <a:off x="0" y="238125"/>
              <a:ext cx="2571900" cy="190500"/>
            </a:xfrm>
            <a:prstGeom prst="rect">
              <a:avLst/>
            </a:prstGeom>
            <a:solidFill>
              <a:srgbClr val="13407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19"/>
            <p:cNvSpPr txBox="1"/>
            <p:nvPr/>
          </p:nvSpPr>
          <p:spPr>
            <a:xfrm>
              <a:off x="190500" y="114300"/>
              <a:ext cx="21909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FFFFFF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Zero Trust Architecture</a:t>
              </a:r>
              <a:endParaRPr b="0" sz="1400">
                <a:solidFill>
                  <a:srgbClr val="FFFFFF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</p:txBody>
        </p:sp>
        <p:grpSp>
          <p:nvGrpSpPr>
            <p:cNvPr id="255" name="Google Shape;255;p19"/>
            <p:cNvGrpSpPr/>
            <p:nvPr/>
          </p:nvGrpSpPr>
          <p:grpSpPr>
            <a:xfrm>
              <a:off x="428625" y="619125"/>
              <a:ext cx="1714500" cy="1895625"/>
              <a:chOff x="0" y="0"/>
              <a:chExt cx="1714500" cy="1895625"/>
            </a:xfrm>
          </p:grpSpPr>
          <p:grpSp>
            <p:nvGrpSpPr>
              <p:cNvPr id="256" name="Google Shape;256;p19"/>
              <p:cNvGrpSpPr/>
              <p:nvPr/>
            </p:nvGrpSpPr>
            <p:grpSpPr>
              <a:xfrm>
                <a:off x="0" y="0"/>
                <a:ext cx="1714500" cy="324000"/>
                <a:chOff x="0" y="0"/>
                <a:chExt cx="1714500" cy="324000"/>
              </a:xfrm>
            </p:grpSpPr>
            <p:sp>
              <p:nvSpPr>
                <p:cNvPr id="257" name="Google Shape;257;p19"/>
                <p:cNvSpPr/>
                <p:nvPr/>
              </p:nvSpPr>
              <p:spPr>
                <a:xfrm>
                  <a:off x="0" y="0"/>
                  <a:ext cx="1714500" cy="324000"/>
                </a:xfrm>
                <a:prstGeom prst="roundRect">
                  <a:avLst>
                    <a:gd fmla="val 17647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8" name="Google Shape;258;p19"/>
                <p:cNvSpPr txBox="1"/>
                <p:nvPr/>
              </p:nvSpPr>
              <p:spPr>
                <a:xfrm>
                  <a:off x="0" y="0"/>
                  <a:ext cx="1714500" cy="324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000">
                      <a:solidFill>
                        <a:srgbClr val="0F172A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Zero Trust User</a:t>
                  </a:r>
                  <a:endParaRPr b="1" sz="1000">
                    <a:solidFill>
                      <a:srgbClr val="0F172A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</p:grpSp>
          <p:pic>
            <p:nvPicPr>
              <p:cNvPr id="259" name="Google Shape;259;p19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847725" y="323850"/>
                <a:ext cx="19200" cy="200100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260" name="Google Shape;260;p19"/>
              <p:cNvGrpSpPr/>
              <p:nvPr/>
            </p:nvGrpSpPr>
            <p:grpSpPr>
              <a:xfrm>
                <a:off x="0" y="523875"/>
                <a:ext cx="1714500" cy="324000"/>
                <a:chOff x="0" y="0"/>
                <a:chExt cx="1714500" cy="324000"/>
              </a:xfrm>
            </p:grpSpPr>
            <p:sp>
              <p:nvSpPr>
                <p:cNvPr id="261" name="Google Shape;261;p19"/>
                <p:cNvSpPr/>
                <p:nvPr/>
              </p:nvSpPr>
              <p:spPr>
                <a:xfrm>
                  <a:off x="0" y="0"/>
                  <a:ext cx="1714500" cy="324000"/>
                </a:xfrm>
                <a:prstGeom prst="roundRect">
                  <a:avLst>
                    <a:gd fmla="val 17647" name="adj"/>
                  </a:avLst>
                </a:prstGeom>
                <a:solidFill>
                  <a:srgbClr val="34D399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2" name="Google Shape;262;p19"/>
                <p:cNvSpPr txBox="1"/>
                <p:nvPr/>
              </p:nvSpPr>
              <p:spPr>
                <a:xfrm>
                  <a:off x="0" y="0"/>
                  <a:ext cx="1714500" cy="324000"/>
                </a:xfrm>
                <a:prstGeom prst="rect">
                  <a:avLst/>
                </a:prstGeom>
                <a:solidFill>
                  <a:srgbClr val="F3F3F3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750">
                    <a:solidFill>
                      <a:srgbClr val="FFFFFF"/>
                    </a:solidFill>
                    <a:highlight>
                      <a:srgbClr val="065F46"/>
                    </a:highlight>
                    <a:latin typeface="Roboto ExtraBold"/>
                    <a:ea typeface="Roboto ExtraBold"/>
                    <a:cs typeface="Roboto ExtraBold"/>
                    <a:sym typeface="Roboto ExtraBold"/>
                  </a:endParaRPr>
                </a:p>
                <a:p>
                  <a:pPr indent="0" lvl="0" marL="0" rtl="0" algn="ctr">
                    <a:spcBef>
                      <a:spcPts val="150"/>
                    </a:spcBef>
                    <a:spcAft>
                      <a:spcPts val="0"/>
                    </a:spcAft>
                    <a:buNone/>
                  </a:pPr>
                  <a:r>
                    <a:rPr b="1" lang="en" sz="900">
                      <a:solidFill>
                        <a:srgbClr val="0F172A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Identity Verification</a:t>
                  </a:r>
                  <a:endParaRPr b="1" sz="900">
                    <a:solidFill>
                      <a:srgbClr val="0F172A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</p:grpSp>
          <p:pic>
            <p:nvPicPr>
              <p:cNvPr id="263" name="Google Shape;263;p19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847725" y="847725"/>
                <a:ext cx="19200" cy="200100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264" name="Google Shape;264;p19"/>
              <p:cNvGrpSpPr/>
              <p:nvPr/>
            </p:nvGrpSpPr>
            <p:grpSpPr>
              <a:xfrm>
                <a:off x="0" y="1047750"/>
                <a:ext cx="1714500" cy="324000"/>
                <a:chOff x="0" y="0"/>
                <a:chExt cx="1714500" cy="324000"/>
              </a:xfrm>
            </p:grpSpPr>
            <p:sp>
              <p:nvSpPr>
                <p:cNvPr id="265" name="Google Shape;265;p19"/>
                <p:cNvSpPr/>
                <p:nvPr/>
              </p:nvSpPr>
              <p:spPr>
                <a:xfrm>
                  <a:off x="0" y="0"/>
                  <a:ext cx="1714500" cy="324000"/>
                </a:xfrm>
                <a:prstGeom prst="roundRect">
                  <a:avLst>
                    <a:gd fmla="val 17647" name="adj"/>
                  </a:avLst>
                </a:prstGeom>
                <a:solidFill>
                  <a:srgbClr val="34D399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6" name="Google Shape;266;p19"/>
                <p:cNvSpPr txBox="1"/>
                <p:nvPr/>
              </p:nvSpPr>
              <p:spPr>
                <a:xfrm>
                  <a:off x="0" y="0"/>
                  <a:ext cx="1714500" cy="32400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750">
                    <a:solidFill>
                      <a:srgbClr val="FFFFFF"/>
                    </a:solidFill>
                    <a:highlight>
                      <a:srgbClr val="065F46"/>
                    </a:highlight>
                    <a:latin typeface="Roboto ExtraBold"/>
                    <a:ea typeface="Roboto ExtraBold"/>
                    <a:cs typeface="Roboto ExtraBold"/>
                    <a:sym typeface="Roboto ExtraBold"/>
                  </a:endParaRPr>
                </a:p>
                <a:p>
                  <a:pPr indent="0" lvl="0" marL="0" rtl="0" algn="ctr">
                    <a:spcBef>
                      <a:spcPts val="150"/>
                    </a:spcBef>
                    <a:spcAft>
                      <a:spcPts val="0"/>
                    </a:spcAft>
                    <a:buNone/>
                  </a:pPr>
                  <a:r>
                    <a:rPr b="1" lang="en" sz="900">
                      <a:solidFill>
                        <a:srgbClr val="0F172A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Policy Check</a:t>
                  </a:r>
                  <a:endParaRPr b="1" sz="900">
                    <a:solidFill>
                      <a:srgbClr val="0F172A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</p:grpSp>
          <p:pic>
            <p:nvPicPr>
              <p:cNvPr id="267" name="Google Shape;267;p19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847725" y="1371600"/>
                <a:ext cx="19200" cy="200100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268" name="Google Shape;268;p19"/>
              <p:cNvGrpSpPr/>
              <p:nvPr/>
            </p:nvGrpSpPr>
            <p:grpSpPr>
              <a:xfrm>
                <a:off x="0" y="1571625"/>
                <a:ext cx="1714500" cy="324000"/>
                <a:chOff x="0" y="0"/>
                <a:chExt cx="1714500" cy="324000"/>
              </a:xfrm>
            </p:grpSpPr>
            <p:sp>
              <p:nvSpPr>
                <p:cNvPr id="269" name="Google Shape;269;p19"/>
                <p:cNvSpPr/>
                <p:nvPr/>
              </p:nvSpPr>
              <p:spPr>
                <a:xfrm>
                  <a:off x="0" y="0"/>
                  <a:ext cx="1714500" cy="324000"/>
                </a:xfrm>
                <a:prstGeom prst="roundRect">
                  <a:avLst>
                    <a:gd fmla="val 17647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0" name="Google Shape;270;p19"/>
                <p:cNvSpPr txBox="1"/>
                <p:nvPr/>
              </p:nvSpPr>
              <p:spPr>
                <a:xfrm>
                  <a:off x="0" y="0"/>
                  <a:ext cx="1714500" cy="324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000">
                      <a:solidFill>
                        <a:srgbClr val="0F172A"/>
                      </a:solidFill>
                      <a:latin typeface="Roboto"/>
                      <a:ea typeface="Roboto"/>
                      <a:cs typeface="Roboto"/>
                      <a:sym typeface="Roboto"/>
                    </a:rPr>
                    <a:t>Application</a:t>
                  </a:r>
                  <a:endParaRPr b="1" sz="1000">
                    <a:solidFill>
                      <a:srgbClr val="0F172A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</p:grpSp>
        </p:grpSp>
        <p:grpSp>
          <p:nvGrpSpPr>
            <p:cNvPr id="271" name="Google Shape;271;p19"/>
            <p:cNvGrpSpPr/>
            <p:nvPr/>
          </p:nvGrpSpPr>
          <p:grpSpPr>
            <a:xfrm>
              <a:off x="428625" y="2619375"/>
              <a:ext cx="1714500" cy="324000"/>
              <a:chOff x="0" y="0"/>
              <a:chExt cx="1714500" cy="324000"/>
            </a:xfrm>
          </p:grpSpPr>
          <p:sp>
            <p:nvSpPr>
              <p:cNvPr id="272" name="Google Shape;272;p19"/>
              <p:cNvSpPr/>
              <p:nvPr/>
            </p:nvSpPr>
            <p:spPr>
              <a:xfrm>
                <a:off x="0" y="0"/>
                <a:ext cx="1714500" cy="324000"/>
              </a:xfrm>
              <a:prstGeom prst="roundRect">
                <a:avLst>
                  <a:gd fmla="val 17647" name="adj"/>
                </a:avLst>
              </a:prstGeom>
              <a:solidFill>
                <a:srgbClr val="ECFDF5"/>
              </a:solidFill>
              <a:ln cap="flat" cmpd="sng" w="9525">
                <a:solidFill>
                  <a:srgbClr val="A7F3D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" name="Google Shape;273;p19"/>
              <p:cNvSpPr txBox="1"/>
              <p:nvPr/>
            </p:nvSpPr>
            <p:spPr>
              <a:xfrm>
                <a:off x="95250" y="0"/>
                <a:ext cx="15240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50">
                    <a:solidFill>
                      <a:srgbClr val="065F46"/>
                    </a:solidFill>
                    <a:latin typeface="Roboto SemiBold"/>
                    <a:ea typeface="Roboto SemiBold"/>
                    <a:cs typeface="Roboto SemiBold"/>
                    <a:sym typeface="Roboto SemiBold"/>
                  </a:rPr>
                  <a:t>Segmented App Access Only</a:t>
                </a:r>
                <a:endParaRPr b="0" sz="950">
                  <a:solidFill>
                    <a:srgbClr val="065F46"/>
                  </a:solidFill>
                  <a:latin typeface="Roboto SemiBold"/>
                  <a:ea typeface="Roboto SemiBold"/>
                  <a:cs typeface="Roboto SemiBold"/>
                  <a:sym typeface="Roboto SemiBold"/>
                </a:endParaRPr>
              </a:p>
            </p:txBody>
          </p:sp>
        </p:grpSp>
      </p:grpSp>
      <p:cxnSp>
        <p:nvCxnSpPr>
          <p:cNvPr id="274" name="Google Shape;274;p19"/>
          <p:cNvCxnSpPr/>
          <p:nvPr/>
        </p:nvCxnSpPr>
        <p:spPr>
          <a:xfrm>
            <a:off x="476250" y="4524375"/>
            <a:ext cx="81915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5" name="Google Shape;275;p19"/>
          <p:cNvSpPr txBox="1"/>
          <p:nvPr/>
        </p:nvSpPr>
        <p:spPr>
          <a:xfrm>
            <a:off x="476250" y="4667250"/>
            <a:ext cx="2667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LAB</a:t>
            </a:r>
            <a:endParaRPr b="1" sz="800">
              <a:solidFill>
                <a:srgbClr val="64748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75"/>
              </a:spcBef>
              <a:spcAft>
                <a:spcPts val="0"/>
              </a:spcAft>
              <a:buNone/>
            </a:pPr>
            <a:r>
              <a:rPr b="0" lang="en" sz="825">
                <a:solidFill>
                  <a:srgbClr val="0F172A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Cross Functional Learning Lab</a:t>
            </a:r>
            <a:endParaRPr b="0" sz="825">
              <a:solidFill>
                <a:srgbClr val="0F172A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276" name="Google Shape;276;p19"/>
          <p:cNvSpPr txBox="1"/>
          <p:nvPr/>
        </p:nvSpPr>
        <p:spPr>
          <a:xfrm>
            <a:off x="3619500" y="466725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PRESENTER</a:t>
            </a:r>
            <a:endParaRPr b="1" sz="800">
              <a:solidFill>
                <a:srgbClr val="64748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75"/>
              </a:spcBef>
              <a:spcAft>
                <a:spcPts val="0"/>
              </a:spcAft>
              <a:buNone/>
            </a:pPr>
            <a:r>
              <a:rPr b="0" lang="en" sz="825">
                <a:solidFill>
                  <a:srgbClr val="0F172A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Baishnabi Samal</a:t>
            </a:r>
            <a:endParaRPr b="0" sz="825">
              <a:solidFill>
                <a:srgbClr val="0F172A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277" name="Google Shape;277;p19"/>
          <p:cNvSpPr txBox="1"/>
          <p:nvPr/>
        </p:nvSpPr>
        <p:spPr>
          <a:xfrm>
            <a:off x="6762750" y="466725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DATE</a:t>
            </a:r>
            <a:endParaRPr b="1" sz="800">
              <a:solidFill>
                <a:srgbClr val="64748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75"/>
              </a:spcBef>
              <a:spcAft>
                <a:spcPts val="0"/>
              </a:spcAft>
              <a:buNone/>
            </a:pPr>
            <a:r>
              <a:rPr b="0" lang="en" sz="825">
                <a:solidFill>
                  <a:srgbClr val="0F172A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July 2, 2026</a:t>
            </a:r>
            <a:endParaRPr b="0" sz="825">
              <a:solidFill>
                <a:srgbClr val="0F172A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0"/>
          <p:cNvSpPr txBox="1"/>
          <p:nvPr/>
        </p:nvSpPr>
        <p:spPr>
          <a:xfrm>
            <a:off x="476250" y="401050"/>
            <a:ext cx="81915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600">
                <a:solidFill>
                  <a:srgbClr val="0F172A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Real-World Scenario</a:t>
            </a:r>
            <a:endParaRPr b="0" sz="935">
              <a:solidFill>
                <a:srgbClr val="47556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84" name="Google Shape;284;p20"/>
          <p:cNvGrpSpPr/>
          <p:nvPr/>
        </p:nvGrpSpPr>
        <p:grpSpPr>
          <a:xfrm>
            <a:off x="476250" y="1190625"/>
            <a:ext cx="3905400" cy="3095700"/>
            <a:chOff x="0" y="0"/>
            <a:chExt cx="3905400" cy="3095700"/>
          </a:xfrm>
        </p:grpSpPr>
        <p:sp>
          <p:nvSpPr>
            <p:cNvPr id="285" name="Google Shape;285;p20"/>
            <p:cNvSpPr/>
            <p:nvPr/>
          </p:nvSpPr>
          <p:spPr>
            <a:xfrm>
              <a:off x="0" y="0"/>
              <a:ext cx="3905400" cy="3095700"/>
            </a:xfrm>
            <a:prstGeom prst="roundRect">
              <a:avLst>
                <a:gd fmla="val 4923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20"/>
            <p:cNvSpPr/>
            <p:nvPr/>
          </p:nvSpPr>
          <p:spPr>
            <a:xfrm>
              <a:off x="0" y="0"/>
              <a:ext cx="3905400" cy="428700"/>
            </a:xfrm>
            <a:prstGeom prst="roundRect">
              <a:avLst>
                <a:gd fmla="val 35555" name="adj"/>
              </a:avLst>
            </a:prstGeom>
            <a:solidFill>
              <a:srgbClr val="33415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20"/>
            <p:cNvSpPr/>
            <p:nvPr/>
          </p:nvSpPr>
          <p:spPr>
            <a:xfrm>
              <a:off x="0" y="238125"/>
              <a:ext cx="3905400" cy="190500"/>
            </a:xfrm>
            <a:prstGeom prst="rect">
              <a:avLst/>
            </a:prstGeom>
            <a:solidFill>
              <a:srgbClr val="33415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20"/>
            <p:cNvSpPr txBox="1"/>
            <p:nvPr/>
          </p:nvSpPr>
          <p:spPr>
            <a:xfrm>
              <a:off x="190500" y="114300"/>
              <a:ext cx="35244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FFFFFF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Traditional VPN</a:t>
              </a:r>
              <a:endParaRPr b="0" sz="1400">
                <a:solidFill>
                  <a:srgbClr val="FFFFFF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</p:txBody>
        </p:sp>
        <p:grpSp>
          <p:nvGrpSpPr>
            <p:cNvPr id="289" name="Google Shape;289;p20"/>
            <p:cNvGrpSpPr/>
            <p:nvPr/>
          </p:nvGrpSpPr>
          <p:grpSpPr>
            <a:xfrm>
              <a:off x="190500" y="571500"/>
              <a:ext cx="3524400" cy="419100"/>
              <a:chOff x="0" y="0"/>
              <a:chExt cx="3524400" cy="419100"/>
            </a:xfrm>
          </p:grpSpPr>
          <p:sp>
            <p:nvSpPr>
              <p:cNvPr id="290" name="Google Shape;290;p20"/>
              <p:cNvSpPr/>
              <p:nvPr/>
            </p:nvSpPr>
            <p:spPr>
              <a:xfrm>
                <a:off x="0" y="0"/>
                <a:ext cx="3524400" cy="419100"/>
              </a:xfrm>
              <a:prstGeom prst="roundRect">
                <a:avLst>
                  <a:gd fmla="val 18181" name="adj"/>
                </a:avLst>
              </a:pr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" name="Google Shape;291;p20"/>
              <p:cNvSpPr txBox="1"/>
              <p:nvPr/>
            </p:nvSpPr>
            <p:spPr>
              <a:xfrm>
                <a:off x="142875" y="66675"/>
                <a:ext cx="32385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35">
                    <a:solidFill>
                      <a:srgbClr val="38BDF8"/>
                    </a:solidFill>
                    <a:latin typeface="Roboto Black"/>
                    <a:ea typeface="Roboto Black"/>
                    <a:cs typeface="Roboto Black"/>
                    <a:sym typeface="Roboto Black"/>
                  </a:rPr>
                  <a:t>01</a:t>
                </a:r>
                <a:endParaRPr b="0" sz="935">
                  <a:solidFill>
                    <a:srgbClr val="38BDF8"/>
                  </a:solidFill>
                  <a:latin typeface="Roboto Black"/>
                  <a:ea typeface="Roboto Black"/>
                  <a:cs typeface="Roboto Black"/>
                  <a:sym typeface="Roboto Black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8">
                    <a:solidFill>
                      <a:srgbClr val="E2E8F0"/>
                    </a:solidFill>
                    <a:latin typeface="Roboto"/>
                    <a:ea typeface="Roboto"/>
                    <a:cs typeface="Roboto"/>
                    <a:sym typeface="Roboto"/>
                  </a:rPr>
                  <a:t>Employee connects to VPN</a:t>
                </a:r>
                <a:endParaRPr b="1" sz="808">
                  <a:solidFill>
                    <a:srgbClr val="E2E8F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292" name="Google Shape;292;p20"/>
            <p:cNvSpPr/>
            <p:nvPr/>
          </p:nvSpPr>
          <p:spPr>
            <a:xfrm>
              <a:off x="1905000" y="1047750"/>
              <a:ext cx="95400" cy="1428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lnTo>
                    <a:pt x="60000" y="120000"/>
                  </a:lnTo>
                  <a:moveTo>
                    <a:pt x="0" y="80000"/>
                  </a:moveTo>
                  <a:lnTo>
                    <a:pt x="60000" y="120000"/>
                  </a:lnTo>
                  <a:lnTo>
                    <a:pt x="120000" y="8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19050">
              <a:solidFill>
                <a:srgbClr val="38BD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93" name="Google Shape;293;p20"/>
            <p:cNvGrpSpPr/>
            <p:nvPr/>
          </p:nvGrpSpPr>
          <p:grpSpPr>
            <a:xfrm>
              <a:off x="190500" y="1247775"/>
              <a:ext cx="3524400" cy="419100"/>
              <a:chOff x="0" y="0"/>
              <a:chExt cx="3524400" cy="419100"/>
            </a:xfrm>
          </p:grpSpPr>
          <p:sp>
            <p:nvSpPr>
              <p:cNvPr id="294" name="Google Shape;294;p20"/>
              <p:cNvSpPr/>
              <p:nvPr/>
            </p:nvSpPr>
            <p:spPr>
              <a:xfrm>
                <a:off x="0" y="0"/>
                <a:ext cx="3524400" cy="419100"/>
              </a:xfrm>
              <a:prstGeom prst="roundRect">
                <a:avLst>
                  <a:gd fmla="val 18181" name="adj"/>
                </a:avLst>
              </a:pr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" name="Google Shape;295;p20"/>
              <p:cNvSpPr txBox="1"/>
              <p:nvPr/>
            </p:nvSpPr>
            <p:spPr>
              <a:xfrm>
                <a:off x="142875" y="66675"/>
                <a:ext cx="32385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35">
                    <a:solidFill>
                      <a:srgbClr val="38BDF8"/>
                    </a:solidFill>
                    <a:latin typeface="Roboto Black"/>
                    <a:ea typeface="Roboto Black"/>
                    <a:cs typeface="Roboto Black"/>
                    <a:sym typeface="Roboto Black"/>
                  </a:rPr>
                  <a:t>02</a:t>
                </a:r>
                <a:endParaRPr b="0" sz="935">
                  <a:solidFill>
                    <a:srgbClr val="38BDF8"/>
                  </a:solidFill>
                  <a:latin typeface="Roboto Black"/>
                  <a:ea typeface="Roboto Black"/>
                  <a:cs typeface="Roboto Black"/>
                  <a:sym typeface="Roboto Black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8">
                    <a:solidFill>
                      <a:srgbClr val="E2E8F0"/>
                    </a:solidFill>
                    <a:latin typeface="Roboto"/>
                    <a:ea typeface="Roboto"/>
                    <a:cs typeface="Roboto"/>
                    <a:sym typeface="Roboto"/>
                  </a:rPr>
                  <a:t>Gets access to the entire office network</a:t>
                </a:r>
                <a:endParaRPr b="1" sz="808">
                  <a:solidFill>
                    <a:srgbClr val="E2E8F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296" name="Google Shape;296;p20"/>
            <p:cNvSpPr/>
            <p:nvPr/>
          </p:nvSpPr>
          <p:spPr>
            <a:xfrm>
              <a:off x="1905000" y="1724025"/>
              <a:ext cx="95400" cy="1428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lnTo>
                    <a:pt x="60000" y="120000"/>
                  </a:lnTo>
                  <a:moveTo>
                    <a:pt x="0" y="80000"/>
                  </a:moveTo>
                  <a:lnTo>
                    <a:pt x="60000" y="120000"/>
                  </a:lnTo>
                  <a:lnTo>
                    <a:pt x="120000" y="8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19050">
              <a:solidFill>
                <a:srgbClr val="38BD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97" name="Google Shape;297;p20"/>
            <p:cNvGrpSpPr/>
            <p:nvPr/>
          </p:nvGrpSpPr>
          <p:grpSpPr>
            <a:xfrm>
              <a:off x="190500" y="1924050"/>
              <a:ext cx="3524400" cy="419100"/>
              <a:chOff x="0" y="0"/>
              <a:chExt cx="3524400" cy="419100"/>
            </a:xfrm>
          </p:grpSpPr>
          <p:sp>
            <p:nvSpPr>
              <p:cNvPr id="298" name="Google Shape;298;p20"/>
              <p:cNvSpPr/>
              <p:nvPr/>
            </p:nvSpPr>
            <p:spPr>
              <a:xfrm>
                <a:off x="0" y="0"/>
                <a:ext cx="3524400" cy="419100"/>
              </a:xfrm>
              <a:prstGeom prst="roundRect">
                <a:avLst>
                  <a:gd fmla="val 18181" name="adj"/>
                </a:avLst>
              </a:pr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" name="Google Shape;299;p20"/>
              <p:cNvSpPr txBox="1"/>
              <p:nvPr/>
            </p:nvSpPr>
            <p:spPr>
              <a:xfrm>
                <a:off x="142875" y="66675"/>
                <a:ext cx="32385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35">
                    <a:solidFill>
                      <a:srgbClr val="38BDF8"/>
                    </a:solidFill>
                    <a:latin typeface="Roboto Black"/>
                    <a:ea typeface="Roboto Black"/>
                    <a:cs typeface="Roboto Black"/>
                    <a:sym typeface="Roboto Black"/>
                  </a:rPr>
                  <a:t>03</a:t>
                </a:r>
                <a:endParaRPr b="0" sz="935">
                  <a:solidFill>
                    <a:srgbClr val="38BDF8"/>
                  </a:solidFill>
                  <a:latin typeface="Roboto Black"/>
                  <a:ea typeface="Roboto Black"/>
                  <a:cs typeface="Roboto Black"/>
                  <a:sym typeface="Roboto Black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8">
                    <a:solidFill>
                      <a:srgbClr val="E2E8F0"/>
                    </a:solidFill>
                    <a:latin typeface="Roboto"/>
                    <a:ea typeface="Roboto"/>
                    <a:cs typeface="Roboto"/>
                    <a:sym typeface="Roboto"/>
                  </a:rPr>
                  <a:t>Can potentially scan multiple servers</a:t>
                </a:r>
                <a:endParaRPr b="1" sz="808">
                  <a:solidFill>
                    <a:srgbClr val="E2E8F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300" name="Google Shape;300;p20"/>
            <p:cNvGrpSpPr/>
            <p:nvPr/>
          </p:nvGrpSpPr>
          <p:grpSpPr>
            <a:xfrm>
              <a:off x="190500" y="2533650"/>
              <a:ext cx="3524400" cy="362100"/>
              <a:chOff x="0" y="0"/>
              <a:chExt cx="3524400" cy="362100"/>
            </a:xfrm>
          </p:grpSpPr>
          <p:sp>
            <p:nvSpPr>
              <p:cNvPr id="301" name="Google Shape;301;p20"/>
              <p:cNvSpPr/>
              <p:nvPr/>
            </p:nvSpPr>
            <p:spPr>
              <a:xfrm>
                <a:off x="0" y="0"/>
                <a:ext cx="3524400" cy="362100"/>
              </a:xfrm>
              <a:prstGeom prst="roundRect">
                <a:avLst>
                  <a:gd fmla="val 21052" name="adj"/>
                </a:avLst>
              </a:prstGeom>
              <a:solidFill>
                <a:srgbClr val="991B1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" name="Google Shape;302;p20"/>
              <p:cNvSpPr txBox="1"/>
              <p:nvPr/>
            </p:nvSpPr>
            <p:spPr>
              <a:xfrm>
                <a:off x="142875" y="0"/>
                <a:ext cx="3238500" cy="3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F1F5F9"/>
                    </a:solidFill>
                    <a:latin typeface="Roboto"/>
                    <a:ea typeface="Roboto"/>
                    <a:cs typeface="Roboto"/>
                    <a:sym typeface="Roboto"/>
                  </a:rPr>
                  <a:t>⚠ RISK: High Lateral Movement</a:t>
                </a:r>
                <a:endParaRPr b="1" sz="1000">
                  <a:solidFill>
                    <a:srgbClr val="F1F5F9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303" name="Google Shape;303;p20"/>
          <p:cNvGrpSpPr/>
          <p:nvPr/>
        </p:nvGrpSpPr>
        <p:grpSpPr>
          <a:xfrm>
            <a:off x="4762500" y="1190625"/>
            <a:ext cx="3905400" cy="3095700"/>
            <a:chOff x="0" y="0"/>
            <a:chExt cx="3905400" cy="3095700"/>
          </a:xfrm>
        </p:grpSpPr>
        <p:sp>
          <p:nvSpPr>
            <p:cNvPr id="304" name="Google Shape;304;p20"/>
            <p:cNvSpPr/>
            <p:nvPr/>
          </p:nvSpPr>
          <p:spPr>
            <a:xfrm>
              <a:off x="0" y="0"/>
              <a:ext cx="3905400" cy="3095700"/>
            </a:xfrm>
            <a:prstGeom prst="roundRect">
              <a:avLst>
                <a:gd fmla="val 4923" name="adj"/>
              </a:avLst>
            </a:prstGeom>
            <a:solidFill>
              <a:srgbClr val="0B254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20"/>
            <p:cNvSpPr/>
            <p:nvPr/>
          </p:nvSpPr>
          <p:spPr>
            <a:xfrm>
              <a:off x="0" y="0"/>
              <a:ext cx="3905400" cy="428700"/>
            </a:xfrm>
            <a:prstGeom prst="roundRect">
              <a:avLst>
                <a:gd fmla="val 35555" name="adj"/>
              </a:avLst>
            </a:prstGeom>
            <a:solidFill>
              <a:srgbClr val="13407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20"/>
            <p:cNvSpPr/>
            <p:nvPr/>
          </p:nvSpPr>
          <p:spPr>
            <a:xfrm>
              <a:off x="0" y="238125"/>
              <a:ext cx="3905400" cy="190500"/>
            </a:xfrm>
            <a:prstGeom prst="rect">
              <a:avLst/>
            </a:prstGeom>
            <a:solidFill>
              <a:srgbClr val="13407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20"/>
            <p:cNvSpPr txBox="1"/>
            <p:nvPr/>
          </p:nvSpPr>
          <p:spPr>
            <a:xfrm>
              <a:off x="190500" y="114300"/>
              <a:ext cx="35244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FFFFFF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Zero Trust Architecture</a:t>
              </a:r>
              <a:endParaRPr b="0" sz="1400">
                <a:solidFill>
                  <a:srgbClr val="FFFFFF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</p:txBody>
        </p:sp>
        <p:grpSp>
          <p:nvGrpSpPr>
            <p:cNvPr id="308" name="Google Shape;308;p20"/>
            <p:cNvGrpSpPr/>
            <p:nvPr/>
          </p:nvGrpSpPr>
          <p:grpSpPr>
            <a:xfrm>
              <a:off x="190500" y="571500"/>
              <a:ext cx="1666800" cy="400200"/>
              <a:chOff x="0" y="0"/>
              <a:chExt cx="1666800" cy="400200"/>
            </a:xfrm>
          </p:grpSpPr>
          <p:sp>
            <p:nvSpPr>
              <p:cNvPr id="309" name="Google Shape;309;p20"/>
              <p:cNvSpPr/>
              <p:nvPr/>
            </p:nvSpPr>
            <p:spPr>
              <a:xfrm>
                <a:off x="0" y="0"/>
                <a:ext cx="1666800" cy="400200"/>
              </a:xfrm>
              <a:prstGeom prst="roundRect">
                <a:avLst>
                  <a:gd fmla="val 19047" name="adj"/>
                </a:avLst>
              </a:prstGeom>
              <a:solidFill>
                <a:srgbClr val="1E293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" name="Google Shape;310;p20"/>
              <p:cNvSpPr txBox="1"/>
              <p:nvPr/>
            </p:nvSpPr>
            <p:spPr>
              <a:xfrm>
                <a:off x="114300" y="47625"/>
                <a:ext cx="14382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35">
                    <a:solidFill>
                      <a:srgbClr val="34D399"/>
                    </a:solidFill>
                    <a:latin typeface="Roboto Black"/>
                    <a:ea typeface="Roboto Black"/>
                    <a:cs typeface="Roboto Black"/>
                    <a:sym typeface="Roboto Black"/>
                  </a:rPr>
                  <a:t>01</a:t>
                </a:r>
                <a:endParaRPr b="0" sz="935">
                  <a:solidFill>
                    <a:srgbClr val="34D399"/>
                  </a:solidFill>
                  <a:latin typeface="Roboto Black"/>
                  <a:ea typeface="Roboto Black"/>
                  <a:cs typeface="Roboto Black"/>
                  <a:sym typeface="Roboto Black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8">
                    <a:solidFill>
                      <a:srgbClr val="E2E8F0"/>
                    </a:solidFill>
                    <a:latin typeface="Roboto"/>
                    <a:ea typeface="Roboto"/>
                    <a:cs typeface="Roboto"/>
                    <a:sym typeface="Roboto"/>
                  </a:rPr>
                  <a:t>Opens CRM App</a:t>
                </a:r>
                <a:endParaRPr b="1" sz="808">
                  <a:solidFill>
                    <a:srgbClr val="E2E8F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311" name="Google Shape;311;p20"/>
            <p:cNvGrpSpPr/>
            <p:nvPr/>
          </p:nvGrpSpPr>
          <p:grpSpPr>
            <a:xfrm>
              <a:off x="2047875" y="571500"/>
              <a:ext cx="1666800" cy="400200"/>
              <a:chOff x="0" y="0"/>
              <a:chExt cx="1666800" cy="400200"/>
            </a:xfrm>
          </p:grpSpPr>
          <p:sp>
            <p:nvSpPr>
              <p:cNvPr id="312" name="Google Shape;312;p20"/>
              <p:cNvSpPr/>
              <p:nvPr/>
            </p:nvSpPr>
            <p:spPr>
              <a:xfrm>
                <a:off x="0" y="0"/>
                <a:ext cx="1666800" cy="400200"/>
              </a:xfrm>
              <a:prstGeom prst="roundRect">
                <a:avLst>
                  <a:gd fmla="val 19047" name="adj"/>
                </a:avLst>
              </a:prstGeom>
              <a:solidFill>
                <a:srgbClr val="1E293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" name="Google Shape;313;p20"/>
              <p:cNvSpPr txBox="1"/>
              <p:nvPr/>
            </p:nvSpPr>
            <p:spPr>
              <a:xfrm>
                <a:off x="114300" y="47625"/>
                <a:ext cx="14382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35">
                    <a:solidFill>
                      <a:srgbClr val="34D399"/>
                    </a:solidFill>
                    <a:latin typeface="Roboto Black"/>
                    <a:ea typeface="Roboto Black"/>
                    <a:cs typeface="Roboto Black"/>
                    <a:sym typeface="Roboto Black"/>
                  </a:rPr>
                  <a:t>02</a:t>
                </a:r>
                <a:endParaRPr b="0" sz="935">
                  <a:solidFill>
                    <a:srgbClr val="34D399"/>
                  </a:solidFill>
                  <a:latin typeface="Roboto Black"/>
                  <a:ea typeface="Roboto Black"/>
                  <a:cs typeface="Roboto Black"/>
                  <a:sym typeface="Roboto Black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8">
                    <a:solidFill>
                      <a:srgbClr val="E2E8F0"/>
                    </a:solidFill>
                    <a:latin typeface="Roboto"/>
                    <a:ea typeface="Roboto"/>
                    <a:cs typeface="Roboto"/>
                    <a:sym typeface="Roboto"/>
                  </a:rPr>
                  <a:t>Identity verified</a:t>
                </a:r>
                <a:endParaRPr b="1" sz="808">
                  <a:solidFill>
                    <a:srgbClr val="E2E8F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314" name="Google Shape;314;p20"/>
            <p:cNvGrpSpPr/>
            <p:nvPr/>
          </p:nvGrpSpPr>
          <p:grpSpPr>
            <a:xfrm>
              <a:off x="190500" y="1066800"/>
              <a:ext cx="1666800" cy="400200"/>
              <a:chOff x="0" y="0"/>
              <a:chExt cx="1666800" cy="400200"/>
            </a:xfrm>
          </p:grpSpPr>
          <p:sp>
            <p:nvSpPr>
              <p:cNvPr id="315" name="Google Shape;315;p20"/>
              <p:cNvSpPr/>
              <p:nvPr/>
            </p:nvSpPr>
            <p:spPr>
              <a:xfrm>
                <a:off x="0" y="0"/>
                <a:ext cx="1666800" cy="400200"/>
              </a:xfrm>
              <a:prstGeom prst="roundRect">
                <a:avLst>
                  <a:gd fmla="val 19047" name="adj"/>
                </a:avLst>
              </a:prstGeom>
              <a:solidFill>
                <a:srgbClr val="1E293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6" name="Google Shape;316;p20"/>
              <p:cNvSpPr txBox="1"/>
              <p:nvPr/>
            </p:nvSpPr>
            <p:spPr>
              <a:xfrm>
                <a:off x="114300" y="47625"/>
                <a:ext cx="14382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35">
                    <a:solidFill>
                      <a:srgbClr val="34D399"/>
                    </a:solidFill>
                    <a:latin typeface="Roboto Black"/>
                    <a:ea typeface="Roboto Black"/>
                    <a:cs typeface="Roboto Black"/>
                    <a:sym typeface="Roboto Black"/>
                  </a:rPr>
                  <a:t>03</a:t>
                </a:r>
                <a:endParaRPr b="0" sz="935">
                  <a:solidFill>
                    <a:srgbClr val="34D399"/>
                  </a:solidFill>
                  <a:latin typeface="Roboto Black"/>
                  <a:ea typeface="Roboto Black"/>
                  <a:cs typeface="Roboto Black"/>
                  <a:sym typeface="Roboto Black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8">
                    <a:solidFill>
                      <a:srgbClr val="E2E8F0"/>
                    </a:solidFill>
                    <a:latin typeface="Roboto"/>
                    <a:ea typeface="Roboto"/>
                    <a:cs typeface="Roboto"/>
                    <a:sym typeface="Roboto"/>
                  </a:rPr>
                  <a:t>Device verified</a:t>
                </a:r>
                <a:endParaRPr b="1" sz="808">
                  <a:solidFill>
                    <a:srgbClr val="E2E8F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317" name="Google Shape;317;p20"/>
            <p:cNvGrpSpPr/>
            <p:nvPr/>
          </p:nvGrpSpPr>
          <p:grpSpPr>
            <a:xfrm>
              <a:off x="2047875" y="1066800"/>
              <a:ext cx="1666800" cy="400200"/>
              <a:chOff x="0" y="0"/>
              <a:chExt cx="1666800" cy="400200"/>
            </a:xfrm>
          </p:grpSpPr>
          <p:sp>
            <p:nvSpPr>
              <p:cNvPr id="318" name="Google Shape;318;p20"/>
              <p:cNvSpPr/>
              <p:nvPr/>
            </p:nvSpPr>
            <p:spPr>
              <a:xfrm>
                <a:off x="0" y="0"/>
                <a:ext cx="1666800" cy="400200"/>
              </a:xfrm>
              <a:prstGeom prst="roundRect">
                <a:avLst>
                  <a:gd fmla="val 19047" name="adj"/>
                </a:avLst>
              </a:prstGeom>
              <a:solidFill>
                <a:srgbClr val="1E293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" name="Google Shape;319;p20"/>
              <p:cNvSpPr txBox="1"/>
              <p:nvPr/>
            </p:nvSpPr>
            <p:spPr>
              <a:xfrm>
                <a:off x="114300" y="47625"/>
                <a:ext cx="14382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35">
                    <a:solidFill>
                      <a:srgbClr val="34D399"/>
                    </a:solidFill>
                    <a:latin typeface="Roboto Black"/>
                    <a:ea typeface="Roboto Black"/>
                    <a:cs typeface="Roboto Black"/>
                    <a:sym typeface="Roboto Black"/>
                  </a:rPr>
                  <a:t>04</a:t>
                </a:r>
                <a:endParaRPr b="0" sz="935">
                  <a:solidFill>
                    <a:srgbClr val="34D399"/>
                  </a:solidFill>
                  <a:latin typeface="Roboto Black"/>
                  <a:ea typeface="Roboto Black"/>
                  <a:cs typeface="Roboto Black"/>
                  <a:sym typeface="Roboto Black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8">
                    <a:solidFill>
                      <a:srgbClr val="E2E8F0"/>
                    </a:solidFill>
                    <a:latin typeface="Roboto"/>
                    <a:ea typeface="Roboto"/>
                    <a:cs typeface="Roboto"/>
                    <a:sym typeface="Roboto"/>
                  </a:rPr>
                  <a:t>Policy checked</a:t>
                </a:r>
                <a:endParaRPr b="1" sz="808">
                  <a:solidFill>
                    <a:srgbClr val="E2E8F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320" name="Google Shape;320;p20"/>
            <p:cNvGrpSpPr/>
            <p:nvPr/>
          </p:nvGrpSpPr>
          <p:grpSpPr>
            <a:xfrm>
              <a:off x="190500" y="1562100"/>
              <a:ext cx="3524400" cy="419100"/>
              <a:chOff x="0" y="0"/>
              <a:chExt cx="3524400" cy="419100"/>
            </a:xfrm>
          </p:grpSpPr>
          <p:sp>
            <p:nvSpPr>
              <p:cNvPr id="321" name="Google Shape;321;p20"/>
              <p:cNvSpPr/>
              <p:nvPr/>
            </p:nvSpPr>
            <p:spPr>
              <a:xfrm>
                <a:off x="0" y="0"/>
                <a:ext cx="3524400" cy="419100"/>
              </a:xfrm>
              <a:prstGeom prst="roundRect">
                <a:avLst>
                  <a:gd fmla="val 18181" name="adj"/>
                </a:avLst>
              </a:prstGeom>
              <a:solidFill>
                <a:srgbClr val="13407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" name="Google Shape;322;p20"/>
              <p:cNvSpPr txBox="1"/>
              <p:nvPr/>
            </p:nvSpPr>
            <p:spPr>
              <a:xfrm>
                <a:off x="142875" y="66675"/>
                <a:ext cx="32385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35">
                    <a:solidFill>
                      <a:srgbClr val="34D399"/>
                    </a:solidFill>
                    <a:latin typeface="Roboto Black"/>
                    <a:ea typeface="Roboto Black"/>
                    <a:cs typeface="Roboto Black"/>
                    <a:sym typeface="Roboto Black"/>
                  </a:rPr>
                  <a:t>05</a:t>
                </a:r>
                <a:endParaRPr b="0" sz="935">
                  <a:solidFill>
                    <a:srgbClr val="34D399"/>
                  </a:solidFill>
                  <a:latin typeface="Roboto Black"/>
                  <a:ea typeface="Roboto Black"/>
                  <a:cs typeface="Roboto Black"/>
                  <a:sym typeface="Roboto Black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8">
                    <a:solidFill>
                      <a:srgbClr val="E2E8F0"/>
                    </a:solidFill>
                    <a:latin typeface="Roboto"/>
                    <a:ea typeface="Roboto"/>
                    <a:cs typeface="Roboto"/>
                    <a:sym typeface="Roboto"/>
                  </a:rPr>
                  <a:t>Only CRM is accessible</a:t>
                </a:r>
                <a:endParaRPr b="1" sz="808">
                  <a:solidFill>
                    <a:srgbClr val="E2E8F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323" name="Google Shape;323;p20"/>
            <p:cNvGrpSpPr/>
            <p:nvPr/>
          </p:nvGrpSpPr>
          <p:grpSpPr>
            <a:xfrm>
              <a:off x="190425" y="2495463"/>
              <a:ext cx="3524400" cy="324013"/>
              <a:chOff x="-75" y="257088"/>
              <a:chExt cx="3524400" cy="324013"/>
            </a:xfrm>
          </p:grpSpPr>
          <p:sp>
            <p:nvSpPr>
              <p:cNvPr id="324" name="Google Shape;324;p20"/>
              <p:cNvSpPr/>
              <p:nvPr/>
            </p:nvSpPr>
            <p:spPr>
              <a:xfrm>
                <a:off x="-75" y="257100"/>
                <a:ext cx="3524400" cy="324000"/>
              </a:xfrm>
              <a:prstGeom prst="roundRect">
                <a:avLst>
                  <a:gd fmla="val 23529" name="adj"/>
                </a:avLst>
              </a:prstGeom>
              <a:solidFill>
                <a:srgbClr val="04785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" name="Google Shape;325;p20"/>
              <p:cNvSpPr txBox="1"/>
              <p:nvPr/>
            </p:nvSpPr>
            <p:spPr>
              <a:xfrm>
                <a:off x="142875" y="257088"/>
                <a:ext cx="32385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ECFDF5"/>
                    </a:solidFill>
                    <a:latin typeface="Roboto"/>
                    <a:ea typeface="Roboto"/>
                    <a:cs typeface="Roboto"/>
                    <a:sym typeface="Roboto"/>
                  </a:rPr>
                  <a:t>✓ Finance servers remain isolated</a:t>
                </a:r>
                <a:endParaRPr b="1" sz="1000">
                  <a:solidFill>
                    <a:srgbClr val="ECFDF5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cxnSp>
        <p:nvCxnSpPr>
          <p:cNvPr id="326" name="Google Shape;326;p20"/>
          <p:cNvCxnSpPr/>
          <p:nvPr/>
        </p:nvCxnSpPr>
        <p:spPr>
          <a:xfrm>
            <a:off x="476250" y="4524375"/>
            <a:ext cx="81915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7" name="Google Shape;327;p20"/>
          <p:cNvSpPr txBox="1"/>
          <p:nvPr/>
        </p:nvSpPr>
        <p:spPr>
          <a:xfrm>
            <a:off x="476250" y="4667250"/>
            <a:ext cx="2667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LAB</a:t>
            </a:r>
            <a:endParaRPr b="1" sz="800">
              <a:solidFill>
                <a:srgbClr val="64748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75"/>
              </a:spcBef>
              <a:spcAft>
                <a:spcPts val="0"/>
              </a:spcAft>
              <a:buNone/>
            </a:pPr>
            <a:r>
              <a:rPr b="0" lang="en" sz="825">
                <a:solidFill>
                  <a:srgbClr val="0F172A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Cross Functional Learning Lab</a:t>
            </a:r>
            <a:endParaRPr b="0" sz="825">
              <a:solidFill>
                <a:srgbClr val="0F172A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328" name="Google Shape;328;p20"/>
          <p:cNvSpPr txBox="1"/>
          <p:nvPr/>
        </p:nvSpPr>
        <p:spPr>
          <a:xfrm>
            <a:off x="3619500" y="466725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PRESENTER</a:t>
            </a:r>
            <a:endParaRPr b="1" sz="800">
              <a:solidFill>
                <a:srgbClr val="64748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75"/>
              </a:spcBef>
              <a:spcAft>
                <a:spcPts val="0"/>
              </a:spcAft>
              <a:buNone/>
            </a:pPr>
            <a:r>
              <a:rPr b="0" lang="en" sz="825">
                <a:solidFill>
                  <a:srgbClr val="0F172A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Baishnabi Samal</a:t>
            </a:r>
            <a:endParaRPr b="0" sz="825">
              <a:solidFill>
                <a:srgbClr val="0F172A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329" name="Google Shape;329;p20"/>
          <p:cNvSpPr txBox="1"/>
          <p:nvPr/>
        </p:nvSpPr>
        <p:spPr>
          <a:xfrm>
            <a:off x="6762750" y="466725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DATE</a:t>
            </a:r>
            <a:endParaRPr b="1" sz="800">
              <a:solidFill>
                <a:srgbClr val="64748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75"/>
              </a:spcBef>
              <a:spcAft>
                <a:spcPts val="0"/>
              </a:spcAft>
              <a:buNone/>
            </a:pPr>
            <a:r>
              <a:rPr b="0" lang="en" sz="825">
                <a:solidFill>
                  <a:srgbClr val="0F172A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July 2, 2026</a:t>
            </a:r>
            <a:endParaRPr b="0" sz="825">
              <a:solidFill>
                <a:srgbClr val="0F172A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21"/>
          <p:cNvSpPr txBox="1"/>
          <p:nvPr/>
        </p:nvSpPr>
        <p:spPr>
          <a:xfrm>
            <a:off x="476250" y="333375"/>
            <a:ext cx="81915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F172A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Advantages &amp; Challenges</a:t>
            </a:r>
            <a:endParaRPr b="0" sz="2400">
              <a:solidFill>
                <a:srgbClr val="0F172A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Balancing operational tradeoffs: Comparing legacy perimeter-based systems with identity-driven security architectures.</a:t>
            </a:r>
            <a:endParaRPr b="0" sz="1100">
              <a:solidFill>
                <a:srgbClr val="47556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36" name="Google Shape;336;p21"/>
          <p:cNvGrpSpPr/>
          <p:nvPr/>
        </p:nvGrpSpPr>
        <p:grpSpPr>
          <a:xfrm>
            <a:off x="476250" y="1190625"/>
            <a:ext cx="3905400" cy="3095700"/>
            <a:chOff x="0" y="0"/>
            <a:chExt cx="3905400" cy="3095700"/>
          </a:xfrm>
        </p:grpSpPr>
        <p:sp>
          <p:nvSpPr>
            <p:cNvPr id="337" name="Google Shape;337;p21"/>
            <p:cNvSpPr/>
            <p:nvPr/>
          </p:nvSpPr>
          <p:spPr>
            <a:xfrm>
              <a:off x="0" y="0"/>
              <a:ext cx="3905400" cy="3095700"/>
            </a:xfrm>
            <a:prstGeom prst="roundRect">
              <a:avLst>
                <a:gd fmla="val 4923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21"/>
            <p:cNvSpPr/>
            <p:nvPr/>
          </p:nvSpPr>
          <p:spPr>
            <a:xfrm>
              <a:off x="0" y="0"/>
              <a:ext cx="3905400" cy="428700"/>
            </a:xfrm>
            <a:prstGeom prst="roundRect">
              <a:avLst>
                <a:gd fmla="val 35555" name="adj"/>
              </a:avLst>
            </a:prstGeom>
            <a:solidFill>
              <a:srgbClr val="33415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21"/>
            <p:cNvSpPr/>
            <p:nvPr/>
          </p:nvSpPr>
          <p:spPr>
            <a:xfrm>
              <a:off x="0" y="238125"/>
              <a:ext cx="3905400" cy="190500"/>
            </a:xfrm>
            <a:prstGeom prst="rect">
              <a:avLst/>
            </a:prstGeom>
            <a:solidFill>
              <a:srgbClr val="33415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21"/>
            <p:cNvSpPr txBox="1"/>
            <p:nvPr/>
          </p:nvSpPr>
          <p:spPr>
            <a:xfrm>
              <a:off x="190500" y="114300"/>
              <a:ext cx="35244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FFFFFF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Traditional VPN</a:t>
              </a:r>
              <a:endParaRPr b="0" sz="1400">
                <a:solidFill>
                  <a:srgbClr val="FFFFFF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</p:txBody>
        </p:sp>
        <p:grpSp>
          <p:nvGrpSpPr>
            <p:cNvPr id="341" name="Google Shape;341;p21"/>
            <p:cNvGrpSpPr/>
            <p:nvPr/>
          </p:nvGrpSpPr>
          <p:grpSpPr>
            <a:xfrm>
              <a:off x="190500" y="571500"/>
              <a:ext cx="3524400" cy="1047900"/>
              <a:chOff x="0" y="0"/>
              <a:chExt cx="3524400" cy="1047900"/>
            </a:xfrm>
          </p:grpSpPr>
          <p:sp>
            <p:nvSpPr>
              <p:cNvPr id="342" name="Google Shape;342;p21"/>
              <p:cNvSpPr/>
              <p:nvPr/>
            </p:nvSpPr>
            <p:spPr>
              <a:xfrm>
                <a:off x="0" y="0"/>
                <a:ext cx="3524400" cy="1047900"/>
              </a:xfrm>
              <a:prstGeom prst="roundRect">
                <a:avLst>
                  <a:gd fmla="val 10909" name="adj"/>
                </a:avLst>
              </a:pr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" name="Google Shape;343;p21"/>
              <p:cNvSpPr txBox="1"/>
              <p:nvPr/>
            </p:nvSpPr>
            <p:spPr>
              <a:xfrm>
                <a:off x="142875" y="114300"/>
                <a:ext cx="3238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34D399"/>
                    </a:solidFill>
                    <a:latin typeface="Roboto"/>
                    <a:ea typeface="Roboto"/>
                    <a:cs typeface="Roboto"/>
                    <a:sym typeface="Roboto"/>
                  </a:rPr>
                  <a:t>ADVANTAGES</a:t>
                </a:r>
                <a:endParaRPr b="1" sz="1100">
                  <a:solidFill>
                    <a:srgbClr val="34D399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344" name="Google Shape;344;p21"/>
              <p:cNvSpPr txBox="1"/>
              <p:nvPr/>
            </p:nvSpPr>
            <p:spPr>
              <a:xfrm>
                <a:off x="142875" y="361950"/>
                <a:ext cx="32385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-295275" lvl="0" marL="45720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E2E8F0"/>
                  </a:buClr>
                  <a:buSzPts val="1050"/>
                  <a:buFont typeface="Roboto"/>
                  <a:buChar char="●"/>
                </a:pPr>
                <a:r>
                  <a:rPr b="0" lang="en" sz="1050">
                    <a:solidFill>
                      <a:srgbClr val="E2E8F0"/>
                    </a:solidFill>
                    <a:latin typeface="Roboto Medium"/>
                    <a:ea typeface="Roboto Medium"/>
                    <a:cs typeface="Roboto Medium"/>
                    <a:sym typeface="Roboto Medium"/>
                  </a:rPr>
                  <a:t>Simple deployment &amp; onboarding</a:t>
                </a:r>
                <a:endParaRPr b="0" sz="1050">
                  <a:solidFill>
                    <a:srgbClr val="E2E8F0"/>
                  </a:solidFill>
                  <a:latin typeface="Roboto Medium"/>
                  <a:ea typeface="Roboto Medium"/>
                  <a:cs typeface="Roboto Medium"/>
                  <a:sym typeface="Roboto Medium"/>
                </a:endParaRPr>
              </a:p>
              <a:p>
                <a:pPr indent="-295275" lvl="0" marL="457200" rtl="0" algn="l">
                  <a:spcBef>
                    <a:spcPts val="450"/>
                  </a:spcBef>
                  <a:spcAft>
                    <a:spcPts val="0"/>
                  </a:spcAft>
                  <a:buClr>
                    <a:srgbClr val="E2E8F0"/>
                  </a:buClr>
                  <a:buSzPts val="1050"/>
                  <a:buFont typeface="Roboto"/>
                  <a:buChar char="●"/>
                </a:pPr>
                <a:r>
                  <a:rPr b="0" lang="en" sz="1050">
                    <a:solidFill>
                      <a:srgbClr val="E2E8F0"/>
                    </a:solidFill>
                    <a:latin typeface="Roboto Medium"/>
                    <a:ea typeface="Roboto Medium"/>
                    <a:cs typeface="Roboto Medium"/>
                    <a:sym typeface="Roboto Medium"/>
                  </a:rPr>
                  <a:t>Low cost </a:t>
                </a:r>
                <a:endParaRPr b="0" sz="1050">
                  <a:solidFill>
                    <a:srgbClr val="E2E8F0"/>
                  </a:solidFill>
                  <a:latin typeface="Roboto Medium"/>
                  <a:ea typeface="Roboto Medium"/>
                  <a:cs typeface="Roboto Medium"/>
                  <a:sym typeface="Roboto Medium"/>
                </a:endParaRPr>
              </a:p>
              <a:p>
                <a:pPr indent="-295275" lvl="0" marL="457200" rtl="0" algn="l">
                  <a:spcBef>
                    <a:spcPts val="450"/>
                  </a:spcBef>
                  <a:spcAft>
                    <a:spcPts val="450"/>
                  </a:spcAft>
                  <a:buClr>
                    <a:srgbClr val="E2E8F0"/>
                  </a:buClr>
                  <a:buSzPts val="1050"/>
                  <a:buFont typeface="Roboto"/>
                  <a:buChar char="●"/>
                </a:pPr>
                <a:r>
                  <a:rPr b="0" lang="en" sz="1050">
                    <a:solidFill>
                      <a:srgbClr val="E2E8F0"/>
                    </a:solidFill>
                    <a:latin typeface="Roboto Medium"/>
                    <a:ea typeface="Roboto Medium"/>
                    <a:cs typeface="Roboto Medium"/>
                    <a:sym typeface="Roboto Medium"/>
                  </a:rPr>
                  <a:t>Familiar </a:t>
                </a:r>
                <a:endParaRPr b="0" sz="1050">
                  <a:solidFill>
                    <a:srgbClr val="E2E8F0"/>
                  </a:solidFill>
                  <a:latin typeface="Roboto Medium"/>
                  <a:ea typeface="Roboto Medium"/>
                  <a:cs typeface="Roboto Medium"/>
                  <a:sym typeface="Roboto Medium"/>
                </a:endParaRPr>
              </a:p>
            </p:txBody>
          </p:sp>
        </p:grpSp>
        <p:grpSp>
          <p:nvGrpSpPr>
            <p:cNvPr id="345" name="Google Shape;345;p21"/>
            <p:cNvGrpSpPr/>
            <p:nvPr/>
          </p:nvGrpSpPr>
          <p:grpSpPr>
            <a:xfrm>
              <a:off x="190500" y="1762125"/>
              <a:ext cx="3524400" cy="1047900"/>
              <a:chOff x="0" y="0"/>
              <a:chExt cx="3524400" cy="1047900"/>
            </a:xfrm>
          </p:grpSpPr>
          <p:sp>
            <p:nvSpPr>
              <p:cNvPr id="346" name="Google Shape;346;p21"/>
              <p:cNvSpPr/>
              <p:nvPr/>
            </p:nvSpPr>
            <p:spPr>
              <a:xfrm>
                <a:off x="0" y="0"/>
                <a:ext cx="3524400" cy="1047900"/>
              </a:xfrm>
              <a:prstGeom prst="roundRect">
                <a:avLst>
                  <a:gd fmla="val 10909" name="adj"/>
                </a:avLst>
              </a:pr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" name="Google Shape;347;p21"/>
              <p:cNvSpPr txBox="1"/>
              <p:nvPr/>
            </p:nvSpPr>
            <p:spPr>
              <a:xfrm>
                <a:off x="142875" y="114300"/>
                <a:ext cx="3238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F87171"/>
                    </a:solidFill>
                    <a:latin typeface="Roboto"/>
                    <a:ea typeface="Roboto"/>
                    <a:cs typeface="Roboto"/>
                    <a:sym typeface="Roboto"/>
                  </a:rPr>
                  <a:t>CHALLENGES</a:t>
                </a:r>
                <a:endParaRPr b="1" sz="1100">
                  <a:solidFill>
                    <a:srgbClr val="F8717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348" name="Google Shape;348;p21"/>
              <p:cNvSpPr txBox="1"/>
              <p:nvPr/>
            </p:nvSpPr>
            <p:spPr>
              <a:xfrm>
                <a:off x="142875" y="361950"/>
                <a:ext cx="32385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-295275" lvl="0" marL="45720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E2E8F0"/>
                  </a:buClr>
                  <a:buSzPts val="1050"/>
                  <a:buFont typeface="Roboto"/>
                  <a:buChar char="●"/>
                </a:pPr>
                <a:r>
                  <a:rPr b="0" lang="en" sz="1050">
                    <a:solidFill>
                      <a:srgbClr val="E2E8F0"/>
                    </a:solidFill>
                    <a:latin typeface="Roboto Medium"/>
                    <a:ea typeface="Roboto Medium"/>
                    <a:cs typeface="Roboto Medium"/>
                    <a:sym typeface="Roboto Medium"/>
                  </a:rPr>
                  <a:t>Flat network </a:t>
                </a:r>
                <a:endParaRPr b="0" sz="1050">
                  <a:solidFill>
                    <a:srgbClr val="E2E8F0"/>
                  </a:solidFill>
                  <a:latin typeface="Roboto Medium"/>
                  <a:ea typeface="Roboto Medium"/>
                  <a:cs typeface="Roboto Medium"/>
                  <a:sym typeface="Roboto Medium"/>
                </a:endParaRPr>
              </a:p>
              <a:p>
                <a:pPr indent="-295275" lvl="0" marL="457200" rtl="0" algn="l">
                  <a:spcBef>
                    <a:spcPts val="450"/>
                  </a:spcBef>
                  <a:spcAft>
                    <a:spcPts val="0"/>
                  </a:spcAft>
                  <a:buClr>
                    <a:srgbClr val="E2E8F0"/>
                  </a:buClr>
                  <a:buSzPts val="1050"/>
                  <a:buFont typeface="Roboto"/>
                  <a:buChar char="●"/>
                </a:pPr>
                <a:r>
                  <a:rPr b="0" lang="en" sz="1050">
                    <a:solidFill>
                      <a:srgbClr val="E2E8F0"/>
                    </a:solidFill>
                    <a:latin typeface="Roboto Medium"/>
                    <a:ea typeface="Roboto Medium"/>
                    <a:cs typeface="Roboto Medium"/>
                    <a:sym typeface="Roboto Medium"/>
                  </a:rPr>
                  <a:t>High risk of lateral movement after login</a:t>
                </a:r>
                <a:endParaRPr b="0" sz="1050">
                  <a:solidFill>
                    <a:srgbClr val="E2E8F0"/>
                  </a:solidFill>
                  <a:latin typeface="Roboto Medium"/>
                  <a:ea typeface="Roboto Medium"/>
                  <a:cs typeface="Roboto Medium"/>
                  <a:sym typeface="Roboto Medium"/>
                </a:endParaRPr>
              </a:p>
              <a:p>
                <a:pPr indent="-295275" lvl="0" marL="457200" rtl="0" algn="l">
                  <a:spcBef>
                    <a:spcPts val="450"/>
                  </a:spcBef>
                  <a:spcAft>
                    <a:spcPts val="450"/>
                  </a:spcAft>
                  <a:buClr>
                    <a:srgbClr val="E2E8F0"/>
                  </a:buClr>
                  <a:buSzPts val="1050"/>
                  <a:buFont typeface="Roboto"/>
                  <a:buChar char="●"/>
                </a:pPr>
                <a:r>
                  <a:rPr b="0" lang="en" sz="1050">
                    <a:solidFill>
                      <a:srgbClr val="E2E8F0"/>
                    </a:solidFill>
                    <a:latin typeface="Roboto Medium"/>
                    <a:ea typeface="Roboto Medium"/>
                    <a:cs typeface="Roboto Medium"/>
                    <a:sym typeface="Roboto Medium"/>
                  </a:rPr>
                  <a:t>Hard to scale securely </a:t>
                </a:r>
                <a:endParaRPr b="0" sz="1050">
                  <a:solidFill>
                    <a:srgbClr val="E2E8F0"/>
                  </a:solidFill>
                  <a:latin typeface="Roboto Medium"/>
                  <a:ea typeface="Roboto Medium"/>
                  <a:cs typeface="Roboto Medium"/>
                  <a:sym typeface="Roboto Medium"/>
                </a:endParaRPr>
              </a:p>
            </p:txBody>
          </p:sp>
        </p:grpSp>
      </p:grpSp>
      <p:grpSp>
        <p:nvGrpSpPr>
          <p:cNvPr id="349" name="Google Shape;349;p21"/>
          <p:cNvGrpSpPr/>
          <p:nvPr/>
        </p:nvGrpSpPr>
        <p:grpSpPr>
          <a:xfrm>
            <a:off x="4762500" y="1190625"/>
            <a:ext cx="3905400" cy="3095700"/>
            <a:chOff x="0" y="0"/>
            <a:chExt cx="3905400" cy="3095700"/>
          </a:xfrm>
        </p:grpSpPr>
        <p:sp>
          <p:nvSpPr>
            <p:cNvPr id="350" name="Google Shape;350;p21"/>
            <p:cNvSpPr/>
            <p:nvPr/>
          </p:nvSpPr>
          <p:spPr>
            <a:xfrm>
              <a:off x="0" y="0"/>
              <a:ext cx="3905400" cy="3095700"/>
            </a:xfrm>
            <a:prstGeom prst="roundRect">
              <a:avLst>
                <a:gd fmla="val 4923" name="adj"/>
              </a:avLst>
            </a:prstGeom>
            <a:solidFill>
              <a:srgbClr val="0B254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21"/>
            <p:cNvSpPr/>
            <p:nvPr/>
          </p:nvSpPr>
          <p:spPr>
            <a:xfrm>
              <a:off x="0" y="0"/>
              <a:ext cx="3905400" cy="428700"/>
            </a:xfrm>
            <a:prstGeom prst="roundRect">
              <a:avLst>
                <a:gd fmla="val 35555" name="adj"/>
              </a:avLst>
            </a:prstGeom>
            <a:solidFill>
              <a:srgbClr val="13407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21"/>
            <p:cNvSpPr/>
            <p:nvPr/>
          </p:nvSpPr>
          <p:spPr>
            <a:xfrm>
              <a:off x="0" y="238125"/>
              <a:ext cx="3905400" cy="190500"/>
            </a:xfrm>
            <a:prstGeom prst="rect">
              <a:avLst/>
            </a:prstGeom>
            <a:solidFill>
              <a:srgbClr val="13407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21"/>
            <p:cNvSpPr txBox="1"/>
            <p:nvPr/>
          </p:nvSpPr>
          <p:spPr>
            <a:xfrm>
              <a:off x="190500" y="114300"/>
              <a:ext cx="35244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FFFFFF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Zero Trust Architecture</a:t>
              </a:r>
              <a:endParaRPr b="0" sz="1400">
                <a:solidFill>
                  <a:srgbClr val="FFFFFF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</p:txBody>
        </p:sp>
        <p:grpSp>
          <p:nvGrpSpPr>
            <p:cNvPr id="354" name="Google Shape;354;p21"/>
            <p:cNvGrpSpPr/>
            <p:nvPr/>
          </p:nvGrpSpPr>
          <p:grpSpPr>
            <a:xfrm>
              <a:off x="190500" y="571500"/>
              <a:ext cx="3524400" cy="1047900"/>
              <a:chOff x="0" y="0"/>
              <a:chExt cx="3524400" cy="1047900"/>
            </a:xfrm>
          </p:grpSpPr>
          <p:sp>
            <p:nvSpPr>
              <p:cNvPr id="355" name="Google Shape;355;p21"/>
              <p:cNvSpPr/>
              <p:nvPr/>
            </p:nvSpPr>
            <p:spPr>
              <a:xfrm>
                <a:off x="0" y="0"/>
                <a:ext cx="3524400" cy="1047900"/>
              </a:xfrm>
              <a:prstGeom prst="roundRect">
                <a:avLst>
                  <a:gd fmla="val 10909" name="adj"/>
                </a:avLst>
              </a:prstGeom>
              <a:solidFill>
                <a:srgbClr val="111827">
                  <a:alpha val="4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" name="Google Shape;356;p21"/>
              <p:cNvSpPr txBox="1"/>
              <p:nvPr/>
            </p:nvSpPr>
            <p:spPr>
              <a:xfrm>
                <a:off x="142875" y="114300"/>
                <a:ext cx="3238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34D399"/>
                    </a:solidFill>
                    <a:latin typeface="Roboto"/>
                    <a:ea typeface="Roboto"/>
                    <a:cs typeface="Roboto"/>
                    <a:sym typeface="Roboto"/>
                  </a:rPr>
                  <a:t>ADVANTAGES</a:t>
                </a:r>
                <a:endParaRPr b="1" sz="1100">
                  <a:solidFill>
                    <a:srgbClr val="34D399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357" name="Google Shape;357;p21"/>
              <p:cNvSpPr txBox="1"/>
              <p:nvPr/>
            </p:nvSpPr>
            <p:spPr>
              <a:xfrm>
                <a:off x="142875" y="361950"/>
                <a:ext cx="32385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-295275" lvl="0" marL="45720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E2E8F0"/>
                  </a:buClr>
                  <a:buSzPts val="1050"/>
                  <a:buFont typeface="Roboto"/>
                  <a:buChar char="●"/>
                </a:pPr>
                <a:r>
                  <a:rPr b="0" lang="en" sz="1050">
                    <a:solidFill>
                      <a:srgbClr val="E2E8F0"/>
                    </a:solidFill>
                    <a:latin typeface="Roboto Medium"/>
                    <a:ea typeface="Roboto Medium"/>
                    <a:cs typeface="Roboto Medium"/>
                    <a:sym typeface="Roboto Medium"/>
                  </a:rPr>
                  <a:t>Strong security </a:t>
                </a:r>
                <a:endParaRPr b="0" sz="1050">
                  <a:solidFill>
                    <a:srgbClr val="E2E8F0"/>
                  </a:solidFill>
                  <a:latin typeface="Roboto Medium"/>
                  <a:ea typeface="Roboto Medium"/>
                  <a:cs typeface="Roboto Medium"/>
                  <a:sym typeface="Roboto Medium"/>
                </a:endParaRPr>
              </a:p>
              <a:p>
                <a:pPr indent="-295275" lvl="0" marL="457200" rtl="0" algn="l">
                  <a:spcBef>
                    <a:spcPts val="450"/>
                  </a:spcBef>
                  <a:spcAft>
                    <a:spcPts val="0"/>
                  </a:spcAft>
                  <a:buClr>
                    <a:srgbClr val="E2E8F0"/>
                  </a:buClr>
                  <a:buSzPts val="1050"/>
                  <a:buFont typeface="Roboto"/>
                  <a:buChar char="●"/>
                </a:pPr>
                <a:r>
                  <a:rPr b="0" lang="en" sz="1050">
                    <a:solidFill>
                      <a:srgbClr val="E2E8F0"/>
                    </a:solidFill>
                    <a:latin typeface="Roboto Medium"/>
                    <a:ea typeface="Roboto Medium"/>
                    <a:cs typeface="Roboto Medium"/>
                    <a:sym typeface="Roboto Medium"/>
                  </a:rPr>
                  <a:t>Least privilege access </a:t>
                </a:r>
                <a:endParaRPr b="0" sz="1050">
                  <a:solidFill>
                    <a:srgbClr val="E2E8F0"/>
                  </a:solidFill>
                  <a:latin typeface="Roboto Medium"/>
                  <a:ea typeface="Roboto Medium"/>
                  <a:cs typeface="Roboto Medium"/>
                  <a:sym typeface="Roboto Medium"/>
                </a:endParaRPr>
              </a:p>
              <a:p>
                <a:pPr indent="-295275" lvl="0" marL="457200" rtl="0" algn="l">
                  <a:spcBef>
                    <a:spcPts val="450"/>
                  </a:spcBef>
                  <a:spcAft>
                    <a:spcPts val="450"/>
                  </a:spcAft>
                  <a:buClr>
                    <a:srgbClr val="E2E8F0"/>
                  </a:buClr>
                  <a:buSzPts val="1050"/>
                  <a:buFont typeface="Roboto"/>
                  <a:buChar char="●"/>
                </a:pPr>
                <a:r>
                  <a:rPr b="0" lang="en" sz="1050">
                    <a:solidFill>
                      <a:srgbClr val="E2E8F0"/>
                    </a:solidFill>
                    <a:latin typeface="Roboto Medium"/>
                    <a:ea typeface="Roboto Medium"/>
                    <a:cs typeface="Roboto Medium"/>
                    <a:sym typeface="Roboto Medium"/>
                  </a:rPr>
                  <a:t>Reduced attack surface &amp; high visibility</a:t>
                </a:r>
                <a:endParaRPr b="0" sz="1050">
                  <a:solidFill>
                    <a:srgbClr val="E2E8F0"/>
                  </a:solidFill>
                  <a:latin typeface="Roboto Medium"/>
                  <a:ea typeface="Roboto Medium"/>
                  <a:cs typeface="Roboto Medium"/>
                  <a:sym typeface="Roboto Medium"/>
                </a:endParaRPr>
              </a:p>
            </p:txBody>
          </p:sp>
        </p:grpSp>
        <p:grpSp>
          <p:nvGrpSpPr>
            <p:cNvPr id="358" name="Google Shape;358;p21"/>
            <p:cNvGrpSpPr/>
            <p:nvPr/>
          </p:nvGrpSpPr>
          <p:grpSpPr>
            <a:xfrm>
              <a:off x="190500" y="1762125"/>
              <a:ext cx="3524400" cy="1047900"/>
              <a:chOff x="0" y="0"/>
              <a:chExt cx="3524400" cy="1047900"/>
            </a:xfrm>
          </p:grpSpPr>
          <p:sp>
            <p:nvSpPr>
              <p:cNvPr id="359" name="Google Shape;359;p21"/>
              <p:cNvSpPr/>
              <p:nvPr/>
            </p:nvSpPr>
            <p:spPr>
              <a:xfrm>
                <a:off x="0" y="0"/>
                <a:ext cx="3524400" cy="1047900"/>
              </a:xfrm>
              <a:prstGeom prst="roundRect">
                <a:avLst>
                  <a:gd fmla="val 10909" name="adj"/>
                </a:avLst>
              </a:prstGeom>
              <a:solidFill>
                <a:srgbClr val="111827">
                  <a:alpha val="4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" name="Google Shape;360;p21"/>
              <p:cNvSpPr txBox="1"/>
              <p:nvPr/>
            </p:nvSpPr>
            <p:spPr>
              <a:xfrm>
                <a:off x="142875" y="114300"/>
                <a:ext cx="3238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F87171"/>
                    </a:solidFill>
                    <a:latin typeface="Roboto"/>
                    <a:ea typeface="Roboto"/>
                    <a:cs typeface="Roboto"/>
                    <a:sym typeface="Roboto"/>
                  </a:rPr>
                  <a:t>CHALLENGES</a:t>
                </a:r>
                <a:endParaRPr b="1" sz="1100">
                  <a:solidFill>
                    <a:srgbClr val="F8717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361" name="Google Shape;361;p21"/>
              <p:cNvSpPr txBox="1"/>
              <p:nvPr/>
            </p:nvSpPr>
            <p:spPr>
              <a:xfrm>
                <a:off x="142875" y="361950"/>
                <a:ext cx="32385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-295275" lvl="0" marL="45720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E2E8F0"/>
                  </a:buClr>
                  <a:buSzPts val="1050"/>
                  <a:buFont typeface="Roboto"/>
                  <a:buChar char="●"/>
                </a:pPr>
                <a:r>
                  <a:rPr b="0" lang="en" sz="1050">
                    <a:solidFill>
                      <a:srgbClr val="E2E8F0"/>
                    </a:solidFill>
                    <a:latin typeface="Roboto Medium"/>
                    <a:ea typeface="Roboto Medium"/>
                    <a:cs typeface="Roboto Medium"/>
                    <a:sym typeface="Roboto Medium"/>
                  </a:rPr>
                  <a:t>Requires extensive planning</a:t>
                </a:r>
                <a:endParaRPr b="0" sz="1050">
                  <a:solidFill>
                    <a:srgbClr val="E2E8F0"/>
                  </a:solidFill>
                  <a:latin typeface="Roboto Medium"/>
                  <a:ea typeface="Roboto Medium"/>
                  <a:cs typeface="Roboto Medium"/>
                  <a:sym typeface="Roboto Medium"/>
                </a:endParaRPr>
              </a:p>
              <a:p>
                <a:pPr indent="-295275" lvl="0" marL="457200" rtl="0" algn="l">
                  <a:spcBef>
                    <a:spcPts val="450"/>
                  </a:spcBef>
                  <a:spcAft>
                    <a:spcPts val="0"/>
                  </a:spcAft>
                  <a:buClr>
                    <a:srgbClr val="E2E8F0"/>
                  </a:buClr>
                  <a:buSzPts val="1050"/>
                  <a:buFont typeface="Roboto"/>
                  <a:buChar char="●"/>
                </a:pPr>
                <a:r>
                  <a:rPr b="0" lang="en" sz="1050">
                    <a:solidFill>
                      <a:srgbClr val="E2E8F0"/>
                    </a:solidFill>
                    <a:latin typeface="Roboto Medium"/>
                    <a:ea typeface="Roboto Medium"/>
                    <a:cs typeface="Roboto Medium"/>
                    <a:sym typeface="Roboto Medium"/>
                  </a:rPr>
                  <a:t>High initial setup effort </a:t>
                </a:r>
                <a:endParaRPr b="0" sz="1050">
                  <a:solidFill>
                    <a:srgbClr val="E2E8F0"/>
                  </a:solidFill>
                  <a:latin typeface="Roboto Medium"/>
                  <a:ea typeface="Roboto Medium"/>
                  <a:cs typeface="Roboto Medium"/>
                  <a:sym typeface="Roboto Medium"/>
                </a:endParaRPr>
              </a:p>
              <a:p>
                <a:pPr indent="-295275" lvl="0" marL="457200" rtl="0" algn="l">
                  <a:spcBef>
                    <a:spcPts val="450"/>
                  </a:spcBef>
                  <a:spcAft>
                    <a:spcPts val="450"/>
                  </a:spcAft>
                  <a:buClr>
                    <a:srgbClr val="E2E8F0"/>
                  </a:buClr>
                  <a:buSzPts val="1050"/>
                  <a:buFont typeface="Roboto"/>
                  <a:buChar char="●"/>
                </a:pPr>
                <a:r>
                  <a:rPr lang="en" sz="1050">
                    <a:solidFill>
                      <a:srgbClr val="E2E8F0"/>
                    </a:solidFill>
                    <a:latin typeface="Roboto Medium"/>
                    <a:ea typeface="Roboto Medium"/>
                    <a:cs typeface="Roboto Medium"/>
                    <a:sym typeface="Roboto Medium"/>
                  </a:rPr>
                  <a:t>I</a:t>
                </a:r>
                <a:r>
                  <a:rPr b="0" lang="en" sz="1050">
                    <a:solidFill>
                      <a:srgbClr val="E2E8F0"/>
                    </a:solidFill>
                    <a:latin typeface="Roboto Medium"/>
                    <a:ea typeface="Roboto Medium"/>
                    <a:cs typeface="Roboto Medium"/>
                    <a:sym typeface="Roboto Medium"/>
                  </a:rPr>
                  <a:t>dentity management required</a:t>
                </a:r>
                <a:endParaRPr b="0" sz="1050">
                  <a:solidFill>
                    <a:srgbClr val="E2E8F0"/>
                  </a:solidFill>
                  <a:latin typeface="Roboto Medium"/>
                  <a:ea typeface="Roboto Medium"/>
                  <a:cs typeface="Roboto Medium"/>
                  <a:sym typeface="Roboto Medium"/>
                </a:endParaRPr>
              </a:p>
            </p:txBody>
          </p:sp>
        </p:grpSp>
      </p:grpSp>
      <p:cxnSp>
        <p:nvCxnSpPr>
          <p:cNvPr id="362" name="Google Shape;362;p21"/>
          <p:cNvCxnSpPr/>
          <p:nvPr/>
        </p:nvCxnSpPr>
        <p:spPr>
          <a:xfrm>
            <a:off x="476250" y="4524375"/>
            <a:ext cx="81915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3" name="Google Shape;363;p21"/>
          <p:cNvSpPr txBox="1"/>
          <p:nvPr/>
        </p:nvSpPr>
        <p:spPr>
          <a:xfrm>
            <a:off x="476250" y="4667250"/>
            <a:ext cx="2667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LAB</a:t>
            </a:r>
            <a:endParaRPr b="1" sz="800">
              <a:solidFill>
                <a:srgbClr val="64748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lang="en" sz="825">
                <a:solidFill>
                  <a:srgbClr val="0F172A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Cross Functional Learning Lab</a:t>
            </a:r>
            <a:endParaRPr b="0" sz="825">
              <a:solidFill>
                <a:srgbClr val="0F172A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364" name="Google Shape;364;p21"/>
          <p:cNvSpPr txBox="1"/>
          <p:nvPr/>
        </p:nvSpPr>
        <p:spPr>
          <a:xfrm>
            <a:off x="3619500" y="466725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PRESENTER</a:t>
            </a:r>
            <a:endParaRPr b="1" sz="800">
              <a:solidFill>
                <a:srgbClr val="64748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b="0" lang="en" sz="825">
                <a:solidFill>
                  <a:srgbClr val="0F172A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Baishnabi Samal</a:t>
            </a:r>
            <a:endParaRPr b="0" sz="825">
              <a:solidFill>
                <a:srgbClr val="0F172A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365" name="Google Shape;365;p21"/>
          <p:cNvSpPr txBox="1"/>
          <p:nvPr/>
        </p:nvSpPr>
        <p:spPr>
          <a:xfrm>
            <a:off x="6762750" y="466725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DATE</a:t>
            </a:r>
            <a:endParaRPr b="1" sz="800">
              <a:solidFill>
                <a:srgbClr val="64748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100"/>
              </a:spcBef>
              <a:spcAft>
                <a:spcPts val="0"/>
              </a:spcAft>
              <a:buNone/>
            </a:pPr>
            <a:r>
              <a:rPr b="0" lang="en" sz="825">
                <a:solidFill>
                  <a:srgbClr val="0F172A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July 2, 2026</a:t>
            </a:r>
            <a:endParaRPr b="0" sz="825">
              <a:solidFill>
                <a:srgbClr val="0F172A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22"/>
          <p:cNvSpPr txBox="1"/>
          <p:nvPr/>
        </p:nvSpPr>
        <p:spPr>
          <a:xfrm>
            <a:off x="476250" y="333375"/>
            <a:ext cx="81915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F172A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When Should You Use Each?</a:t>
            </a:r>
            <a:endParaRPr b="0" sz="2400">
              <a:solidFill>
                <a:srgbClr val="0F172A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Selecting the right security paradigm: Mapping architecture suitability to enterprise infrastructure and data needs.</a:t>
            </a:r>
            <a:endParaRPr b="0" sz="1100">
              <a:solidFill>
                <a:srgbClr val="47556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72" name="Google Shape;372;p22"/>
          <p:cNvGrpSpPr/>
          <p:nvPr/>
        </p:nvGrpSpPr>
        <p:grpSpPr>
          <a:xfrm>
            <a:off x="476250" y="1190625"/>
            <a:ext cx="3905400" cy="3095700"/>
            <a:chOff x="0" y="0"/>
            <a:chExt cx="3905400" cy="3095700"/>
          </a:xfrm>
        </p:grpSpPr>
        <p:sp>
          <p:nvSpPr>
            <p:cNvPr id="373" name="Google Shape;373;p22"/>
            <p:cNvSpPr/>
            <p:nvPr/>
          </p:nvSpPr>
          <p:spPr>
            <a:xfrm>
              <a:off x="0" y="0"/>
              <a:ext cx="3905400" cy="3095700"/>
            </a:xfrm>
            <a:prstGeom prst="roundRect">
              <a:avLst>
                <a:gd fmla="val 4923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22"/>
            <p:cNvSpPr/>
            <p:nvPr/>
          </p:nvSpPr>
          <p:spPr>
            <a:xfrm>
              <a:off x="0" y="0"/>
              <a:ext cx="3905400" cy="428700"/>
            </a:xfrm>
            <a:prstGeom prst="roundRect">
              <a:avLst>
                <a:gd fmla="val 35555" name="adj"/>
              </a:avLst>
            </a:prstGeom>
            <a:solidFill>
              <a:srgbClr val="33415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22"/>
            <p:cNvSpPr/>
            <p:nvPr/>
          </p:nvSpPr>
          <p:spPr>
            <a:xfrm>
              <a:off x="0" y="238125"/>
              <a:ext cx="3905400" cy="190500"/>
            </a:xfrm>
            <a:prstGeom prst="rect">
              <a:avLst/>
            </a:prstGeom>
            <a:solidFill>
              <a:srgbClr val="33415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22"/>
            <p:cNvSpPr txBox="1"/>
            <p:nvPr/>
          </p:nvSpPr>
          <p:spPr>
            <a:xfrm>
              <a:off x="190500" y="114300"/>
              <a:ext cx="35244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FFFFFF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Traditional VPN</a:t>
              </a:r>
              <a:endParaRPr b="0" sz="1400">
                <a:solidFill>
                  <a:srgbClr val="FFFFFF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</p:txBody>
        </p:sp>
        <p:grpSp>
          <p:nvGrpSpPr>
            <p:cNvPr id="377" name="Google Shape;377;p22"/>
            <p:cNvGrpSpPr/>
            <p:nvPr/>
          </p:nvGrpSpPr>
          <p:grpSpPr>
            <a:xfrm>
              <a:off x="190500" y="571500"/>
              <a:ext cx="3524400" cy="2333700"/>
              <a:chOff x="0" y="0"/>
              <a:chExt cx="3524400" cy="2333700"/>
            </a:xfrm>
          </p:grpSpPr>
          <p:sp>
            <p:nvSpPr>
              <p:cNvPr id="378" name="Google Shape;378;p22"/>
              <p:cNvSpPr/>
              <p:nvPr/>
            </p:nvSpPr>
            <p:spPr>
              <a:xfrm>
                <a:off x="0" y="0"/>
                <a:ext cx="3524400" cy="2333700"/>
              </a:xfrm>
              <a:prstGeom prst="roundRect">
                <a:avLst>
                  <a:gd fmla="val 4897" name="adj"/>
                </a:avLst>
              </a:pr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" name="Google Shape;379;p22"/>
              <p:cNvSpPr txBox="1"/>
              <p:nvPr/>
            </p:nvSpPr>
            <p:spPr>
              <a:xfrm>
                <a:off x="142875" y="142875"/>
                <a:ext cx="3238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34D399"/>
                    </a:solidFill>
                    <a:latin typeface="Roboto"/>
                    <a:ea typeface="Roboto"/>
                    <a:cs typeface="Roboto"/>
                    <a:sym typeface="Roboto"/>
                  </a:rPr>
                  <a:t>SUITABLE FOR</a:t>
                </a:r>
                <a:endParaRPr b="1" sz="1100">
                  <a:solidFill>
                    <a:srgbClr val="34D399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380" name="Google Shape;380;p22"/>
              <p:cNvSpPr txBox="1"/>
              <p:nvPr/>
            </p:nvSpPr>
            <p:spPr>
              <a:xfrm>
                <a:off x="142875" y="457200"/>
                <a:ext cx="3238500" cy="171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-298450" lvl="0" marL="45720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E2E8F0"/>
                  </a:buClr>
                  <a:buSzPts val="1100"/>
                  <a:buFont typeface="Roboto"/>
                  <a:buChar char="●"/>
                </a:pPr>
                <a:r>
                  <a:rPr b="0" lang="en" sz="1100">
                    <a:solidFill>
                      <a:srgbClr val="E2E8F0"/>
                    </a:solidFill>
                    <a:latin typeface="Roboto Medium"/>
                    <a:ea typeface="Roboto Medium"/>
                    <a:cs typeface="Roboto Medium"/>
                    <a:sym typeface="Roboto Medium"/>
                  </a:rPr>
                  <a:t>Small businesses with simple networks</a:t>
                </a:r>
                <a:endParaRPr b="0" sz="1100">
                  <a:solidFill>
                    <a:srgbClr val="E2E8F0"/>
                  </a:solidFill>
                  <a:latin typeface="Roboto Medium"/>
                  <a:ea typeface="Roboto Medium"/>
                  <a:cs typeface="Roboto Medium"/>
                  <a:sym typeface="Roboto Medium"/>
                </a:endParaRPr>
              </a:p>
              <a:p>
                <a:pPr indent="-298450" lvl="0" marL="457200" rtl="0" algn="l">
                  <a:spcBef>
                    <a:spcPts val="800"/>
                  </a:spcBef>
                  <a:spcAft>
                    <a:spcPts val="0"/>
                  </a:spcAft>
                  <a:buClr>
                    <a:srgbClr val="E2E8F0"/>
                  </a:buClr>
                  <a:buSzPts val="1100"/>
                  <a:buFont typeface="Roboto"/>
                  <a:buChar char="●"/>
                </a:pPr>
                <a:r>
                  <a:rPr b="0" lang="en" sz="1100">
                    <a:solidFill>
                      <a:srgbClr val="E2E8F0"/>
                    </a:solidFill>
                    <a:latin typeface="Roboto Medium"/>
                    <a:ea typeface="Roboto Medium"/>
                    <a:cs typeface="Roboto Medium"/>
                    <a:sym typeface="Roboto Medium"/>
                  </a:rPr>
                  <a:t>Temporary or occasional remote access</a:t>
                </a:r>
                <a:endParaRPr b="0" sz="1100">
                  <a:solidFill>
                    <a:srgbClr val="E2E8F0"/>
                  </a:solidFill>
                  <a:latin typeface="Roboto Medium"/>
                  <a:ea typeface="Roboto Medium"/>
                  <a:cs typeface="Roboto Medium"/>
                  <a:sym typeface="Roboto Medium"/>
                </a:endParaRPr>
              </a:p>
              <a:p>
                <a:pPr indent="-298450" lvl="0" marL="457200" rtl="0" algn="l">
                  <a:spcBef>
                    <a:spcPts val="800"/>
                  </a:spcBef>
                  <a:spcAft>
                    <a:spcPts val="800"/>
                  </a:spcAft>
                  <a:buClr>
                    <a:srgbClr val="E2E8F0"/>
                  </a:buClr>
                  <a:buSzPts val="1100"/>
                  <a:buFont typeface="Roboto"/>
                  <a:buChar char="●"/>
                </a:pPr>
                <a:r>
                  <a:rPr b="0" lang="en" sz="1100">
                    <a:solidFill>
                      <a:srgbClr val="E2E8F0"/>
                    </a:solidFill>
                    <a:latin typeface="Roboto Medium"/>
                    <a:ea typeface="Roboto Medium"/>
                    <a:cs typeface="Roboto Medium"/>
                    <a:sym typeface="Roboto Medium"/>
                  </a:rPr>
                  <a:t>Legacy applications and static environments</a:t>
                </a:r>
                <a:endParaRPr b="0" sz="1100">
                  <a:solidFill>
                    <a:srgbClr val="E2E8F0"/>
                  </a:solidFill>
                  <a:latin typeface="Roboto Medium"/>
                  <a:ea typeface="Roboto Medium"/>
                  <a:cs typeface="Roboto Medium"/>
                  <a:sym typeface="Roboto Medium"/>
                </a:endParaRPr>
              </a:p>
            </p:txBody>
          </p:sp>
        </p:grpSp>
      </p:grpSp>
      <p:grpSp>
        <p:nvGrpSpPr>
          <p:cNvPr id="381" name="Google Shape;381;p22"/>
          <p:cNvGrpSpPr/>
          <p:nvPr/>
        </p:nvGrpSpPr>
        <p:grpSpPr>
          <a:xfrm>
            <a:off x="4762500" y="1190625"/>
            <a:ext cx="3905400" cy="3095700"/>
            <a:chOff x="0" y="0"/>
            <a:chExt cx="3905400" cy="3095700"/>
          </a:xfrm>
        </p:grpSpPr>
        <p:sp>
          <p:nvSpPr>
            <p:cNvPr id="382" name="Google Shape;382;p22"/>
            <p:cNvSpPr/>
            <p:nvPr/>
          </p:nvSpPr>
          <p:spPr>
            <a:xfrm>
              <a:off x="0" y="0"/>
              <a:ext cx="3905400" cy="3095700"/>
            </a:xfrm>
            <a:prstGeom prst="roundRect">
              <a:avLst>
                <a:gd fmla="val 4923" name="adj"/>
              </a:avLst>
            </a:prstGeom>
            <a:solidFill>
              <a:srgbClr val="0B254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22"/>
            <p:cNvSpPr/>
            <p:nvPr/>
          </p:nvSpPr>
          <p:spPr>
            <a:xfrm>
              <a:off x="0" y="0"/>
              <a:ext cx="3905400" cy="428700"/>
            </a:xfrm>
            <a:prstGeom prst="roundRect">
              <a:avLst>
                <a:gd fmla="val 35555" name="adj"/>
              </a:avLst>
            </a:prstGeom>
            <a:solidFill>
              <a:srgbClr val="13407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22"/>
            <p:cNvSpPr/>
            <p:nvPr/>
          </p:nvSpPr>
          <p:spPr>
            <a:xfrm>
              <a:off x="0" y="238125"/>
              <a:ext cx="3905400" cy="190500"/>
            </a:xfrm>
            <a:prstGeom prst="rect">
              <a:avLst/>
            </a:prstGeom>
            <a:solidFill>
              <a:srgbClr val="13407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22"/>
            <p:cNvSpPr txBox="1"/>
            <p:nvPr/>
          </p:nvSpPr>
          <p:spPr>
            <a:xfrm>
              <a:off x="190500" y="114300"/>
              <a:ext cx="35244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FFFFFF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Zero Trust Architecture</a:t>
              </a:r>
              <a:endParaRPr b="0" sz="1400">
                <a:solidFill>
                  <a:srgbClr val="FFFFFF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</p:txBody>
        </p:sp>
        <p:grpSp>
          <p:nvGrpSpPr>
            <p:cNvPr id="386" name="Google Shape;386;p22"/>
            <p:cNvGrpSpPr/>
            <p:nvPr/>
          </p:nvGrpSpPr>
          <p:grpSpPr>
            <a:xfrm>
              <a:off x="190500" y="571500"/>
              <a:ext cx="3524400" cy="2333700"/>
              <a:chOff x="0" y="0"/>
              <a:chExt cx="3524400" cy="2333700"/>
            </a:xfrm>
          </p:grpSpPr>
          <p:sp>
            <p:nvSpPr>
              <p:cNvPr id="387" name="Google Shape;387;p22"/>
              <p:cNvSpPr/>
              <p:nvPr/>
            </p:nvSpPr>
            <p:spPr>
              <a:xfrm>
                <a:off x="0" y="0"/>
                <a:ext cx="3524400" cy="2333700"/>
              </a:xfrm>
              <a:prstGeom prst="roundRect">
                <a:avLst>
                  <a:gd fmla="val 4897" name="adj"/>
                </a:avLst>
              </a:prstGeom>
              <a:solidFill>
                <a:srgbClr val="111827">
                  <a:alpha val="4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8" name="Google Shape;388;p22"/>
              <p:cNvSpPr txBox="1"/>
              <p:nvPr/>
            </p:nvSpPr>
            <p:spPr>
              <a:xfrm>
                <a:off x="142875" y="142875"/>
                <a:ext cx="3238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34D399"/>
                    </a:solidFill>
                    <a:latin typeface="Roboto"/>
                    <a:ea typeface="Roboto"/>
                    <a:cs typeface="Roboto"/>
                    <a:sym typeface="Roboto"/>
                  </a:rPr>
                  <a:t>SUITABLE FOR</a:t>
                </a:r>
                <a:endParaRPr b="1" sz="1100">
                  <a:solidFill>
                    <a:srgbClr val="34D399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389" name="Google Shape;389;p22"/>
              <p:cNvSpPr txBox="1"/>
              <p:nvPr/>
            </p:nvSpPr>
            <p:spPr>
              <a:xfrm>
                <a:off x="142875" y="457200"/>
                <a:ext cx="3238500" cy="171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-298450" lvl="0" marL="45720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E2E8F0"/>
                  </a:buClr>
                  <a:buSzPts val="1100"/>
                  <a:buFont typeface="Roboto"/>
                  <a:buChar char="●"/>
                </a:pPr>
                <a:r>
                  <a:rPr b="0" lang="en" sz="1100">
                    <a:solidFill>
                      <a:srgbClr val="E2E8F0"/>
                    </a:solidFill>
                    <a:latin typeface="Roboto Medium"/>
                    <a:ea typeface="Roboto Medium"/>
                    <a:cs typeface="Roboto Medium"/>
                    <a:sym typeface="Roboto Medium"/>
                  </a:rPr>
                  <a:t>Dynamic hybrid workforces</a:t>
                </a:r>
                <a:endParaRPr b="0" sz="1100">
                  <a:solidFill>
                    <a:srgbClr val="E2E8F0"/>
                  </a:solidFill>
                  <a:latin typeface="Roboto Medium"/>
                  <a:ea typeface="Roboto Medium"/>
                  <a:cs typeface="Roboto Medium"/>
                  <a:sym typeface="Roboto Medium"/>
                </a:endParaRPr>
              </a:p>
              <a:p>
                <a:pPr indent="-298450" lvl="0" marL="457200" rtl="0" algn="l">
                  <a:spcBef>
                    <a:spcPts val="800"/>
                  </a:spcBef>
                  <a:spcAft>
                    <a:spcPts val="0"/>
                  </a:spcAft>
                  <a:buClr>
                    <a:srgbClr val="E2E8F0"/>
                  </a:buClr>
                  <a:buSzPts val="1100"/>
                  <a:buFont typeface="Roboto"/>
                  <a:buChar char="●"/>
                </a:pPr>
                <a:r>
                  <a:rPr b="0" lang="en" sz="1100">
                    <a:solidFill>
                      <a:srgbClr val="E2E8F0"/>
                    </a:solidFill>
                    <a:latin typeface="Roboto Medium"/>
                    <a:ea typeface="Roboto Medium"/>
                    <a:cs typeface="Roboto Medium"/>
                    <a:sym typeface="Roboto Medium"/>
                  </a:rPr>
                  <a:t>Cloud-native applications &amp; SaaS</a:t>
                </a:r>
                <a:endParaRPr b="0" sz="1100">
                  <a:solidFill>
                    <a:srgbClr val="E2E8F0"/>
                  </a:solidFill>
                  <a:latin typeface="Roboto Medium"/>
                  <a:ea typeface="Roboto Medium"/>
                  <a:cs typeface="Roboto Medium"/>
                  <a:sym typeface="Roboto Medium"/>
                </a:endParaRPr>
              </a:p>
              <a:p>
                <a:pPr indent="-298450" lvl="0" marL="457200" rtl="0" algn="l">
                  <a:spcBef>
                    <a:spcPts val="800"/>
                  </a:spcBef>
                  <a:spcAft>
                    <a:spcPts val="0"/>
                  </a:spcAft>
                  <a:buClr>
                    <a:srgbClr val="E2E8F0"/>
                  </a:buClr>
                  <a:buSzPts val="1100"/>
                  <a:buFont typeface="Roboto"/>
                  <a:buChar char="●"/>
                </a:pPr>
                <a:r>
                  <a:rPr b="0" lang="en" sz="1100">
                    <a:solidFill>
                      <a:srgbClr val="E2E8F0"/>
                    </a:solidFill>
                    <a:latin typeface="Roboto Medium"/>
                    <a:ea typeface="Roboto Medium"/>
                    <a:cs typeface="Roboto Medium"/>
                    <a:sym typeface="Roboto Medium"/>
                  </a:rPr>
                  <a:t>Sensitive business data &amp; IP protection</a:t>
                </a:r>
                <a:endParaRPr b="0" sz="1100">
                  <a:solidFill>
                    <a:srgbClr val="E2E8F0"/>
                  </a:solidFill>
                  <a:latin typeface="Roboto Medium"/>
                  <a:ea typeface="Roboto Medium"/>
                  <a:cs typeface="Roboto Medium"/>
                  <a:sym typeface="Roboto Medium"/>
                </a:endParaRPr>
              </a:p>
              <a:p>
                <a:pPr indent="-298450" lvl="0" marL="457200" rtl="0" algn="l">
                  <a:spcBef>
                    <a:spcPts val="800"/>
                  </a:spcBef>
                  <a:spcAft>
                    <a:spcPts val="800"/>
                  </a:spcAft>
                  <a:buClr>
                    <a:srgbClr val="E2E8F0"/>
                  </a:buClr>
                  <a:buSzPts val="1100"/>
                  <a:buFont typeface="Roboto"/>
                  <a:buChar char="●"/>
                </a:pPr>
                <a:r>
                  <a:rPr b="0" lang="en" sz="1100">
                    <a:solidFill>
                      <a:srgbClr val="E2E8F0"/>
                    </a:solidFill>
                    <a:latin typeface="Roboto Medium"/>
                    <a:ea typeface="Roboto Medium"/>
                    <a:cs typeface="Roboto Medium"/>
                    <a:sym typeface="Roboto Medium"/>
                  </a:rPr>
                  <a:t>Modern enterprises requiring high compliance</a:t>
                </a:r>
                <a:endParaRPr b="0" sz="1100">
                  <a:solidFill>
                    <a:srgbClr val="E2E8F0"/>
                  </a:solidFill>
                  <a:latin typeface="Roboto Medium"/>
                  <a:ea typeface="Roboto Medium"/>
                  <a:cs typeface="Roboto Medium"/>
                  <a:sym typeface="Roboto Medium"/>
                </a:endParaRPr>
              </a:p>
            </p:txBody>
          </p:sp>
        </p:grpSp>
      </p:grpSp>
      <p:cxnSp>
        <p:nvCxnSpPr>
          <p:cNvPr id="390" name="Google Shape;390;p22"/>
          <p:cNvCxnSpPr/>
          <p:nvPr/>
        </p:nvCxnSpPr>
        <p:spPr>
          <a:xfrm>
            <a:off x="476250" y="4524375"/>
            <a:ext cx="81915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1" name="Google Shape;391;p22"/>
          <p:cNvSpPr txBox="1"/>
          <p:nvPr/>
        </p:nvSpPr>
        <p:spPr>
          <a:xfrm>
            <a:off x="476250" y="4667250"/>
            <a:ext cx="2667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LAB</a:t>
            </a:r>
            <a:endParaRPr b="1" sz="800">
              <a:solidFill>
                <a:srgbClr val="64748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lang="en" sz="825">
                <a:solidFill>
                  <a:srgbClr val="0F172A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Cross Functional Learning Lab</a:t>
            </a:r>
            <a:endParaRPr b="0" sz="825">
              <a:solidFill>
                <a:srgbClr val="0F172A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392" name="Google Shape;392;p22"/>
          <p:cNvSpPr txBox="1"/>
          <p:nvPr/>
        </p:nvSpPr>
        <p:spPr>
          <a:xfrm>
            <a:off x="3619500" y="466725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PRESENTER</a:t>
            </a:r>
            <a:endParaRPr b="1" sz="800">
              <a:solidFill>
                <a:srgbClr val="64748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b="0" lang="en" sz="825">
                <a:solidFill>
                  <a:srgbClr val="0F172A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Baishnabi Samal</a:t>
            </a:r>
            <a:endParaRPr b="0" sz="825">
              <a:solidFill>
                <a:srgbClr val="0F172A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393" name="Google Shape;393;p22"/>
          <p:cNvSpPr txBox="1"/>
          <p:nvPr/>
        </p:nvSpPr>
        <p:spPr>
          <a:xfrm>
            <a:off x="6762750" y="466725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DATE</a:t>
            </a:r>
            <a:endParaRPr b="1" sz="800">
              <a:solidFill>
                <a:srgbClr val="64748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100"/>
              </a:spcBef>
              <a:spcAft>
                <a:spcPts val="0"/>
              </a:spcAft>
              <a:buNone/>
            </a:pPr>
            <a:r>
              <a:rPr b="0" lang="en" sz="825">
                <a:solidFill>
                  <a:srgbClr val="0F172A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July 2, 2026</a:t>
            </a:r>
            <a:endParaRPr b="0" sz="825">
              <a:solidFill>
                <a:srgbClr val="0F172A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23"/>
          <p:cNvSpPr txBox="1"/>
          <p:nvPr/>
        </p:nvSpPr>
        <p:spPr>
          <a:xfrm>
            <a:off x="476250" y="401050"/>
            <a:ext cx="81915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F172A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 </a:t>
            </a:r>
            <a:r>
              <a:rPr b="0" lang="en" sz="2400">
                <a:solidFill>
                  <a:srgbClr val="0F172A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Conclusion </a:t>
            </a:r>
            <a:endParaRPr b="0" sz="1100">
              <a:solidFill>
                <a:srgbClr val="47556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00" name="Google Shape;400;p23"/>
          <p:cNvGrpSpPr/>
          <p:nvPr/>
        </p:nvGrpSpPr>
        <p:grpSpPr>
          <a:xfrm>
            <a:off x="476250" y="1190625"/>
            <a:ext cx="3905400" cy="2238300"/>
            <a:chOff x="0" y="0"/>
            <a:chExt cx="3905400" cy="2238300"/>
          </a:xfrm>
        </p:grpSpPr>
        <p:sp>
          <p:nvSpPr>
            <p:cNvPr id="401" name="Google Shape;401;p23"/>
            <p:cNvSpPr/>
            <p:nvPr/>
          </p:nvSpPr>
          <p:spPr>
            <a:xfrm>
              <a:off x="0" y="0"/>
              <a:ext cx="3905400" cy="2238300"/>
            </a:xfrm>
            <a:prstGeom prst="roundRect">
              <a:avLst>
                <a:gd fmla="val 6808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23"/>
            <p:cNvSpPr/>
            <p:nvPr/>
          </p:nvSpPr>
          <p:spPr>
            <a:xfrm>
              <a:off x="0" y="0"/>
              <a:ext cx="3905400" cy="428700"/>
            </a:xfrm>
            <a:prstGeom prst="roundRect">
              <a:avLst>
                <a:gd fmla="val 35555" name="adj"/>
              </a:avLst>
            </a:prstGeom>
            <a:solidFill>
              <a:srgbClr val="33415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23"/>
            <p:cNvSpPr/>
            <p:nvPr/>
          </p:nvSpPr>
          <p:spPr>
            <a:xfrm>
              <a:off x="0" y="238125"/>
              <a:ext cx="3905400" cy="190500"/>
            </a:xfrm>
            <a:prstGeom prst="rect">
              <a:avLst/>
            </a:prstGeom>
            <a:solidFill>
              <a:srgbClr val="33415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23"/>
            <p:cNvSpPr txBox="1"/>
            <p:nvPr/>
          </p:nvSpPr>
          <p:spPr>
            <a:xfrm>
              <a:off x="190500" y="114300"/>
              <a:ext cx="23814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FFFFFF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Traditional VPN Model</a:t>
              </a:r>
              <a:endParaRPr b="0" sz="1400">
                <a:solidFill>
                  <a:srgbClr val="FFFFFF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</p:txBody>
        </p:sp>
        <p:pic>
          <p:nvPicPr>
            <p:cNvPr descr="An abstract digital rendering representing a network tunnel, secure perimeter wall, or lock, with a dark blue and grey technology theme, simple composition." id="405" name="Google Shape;405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90500" y="619125"/>
              <a:ext cx="1047900" cy="1047900"/>
            </a:xfrm>
            <a:prstGeom prst="roundRect">
              <a:avLst>
                <a:gd fmla="val 14545" name="adj"/>
              </a:avLst>
            </a:prstGeom>
            <a:noFill/>
            <a:ln>
              <a:noFill/>
            </a:ln>
          </p:spPr>
        </p:pic>
        <p:sp>
          <p:nvSpPr>
            <p:cNvPr id="406" name="Google Shape;406;p23"/>
            <p:cNvSpPr txBox="1"/>
            <p:nvPr/>
          </p:nvSpPr>
          <p:spPr>
            <a:xfrm>
              <a:off x="1428750" y="619125"/>
              <a:ext cx="2286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87171"/>
                  </a:solidFill>
                  <a:latin typeface="Roboto"/>
                  <a:ea typeface="Roboto"/>
                  <a:cs typeface="Roboto"/>
                  <a:sym typeface="Roboto"/>
                </a:rPr>
                <a:t>PERIMETER FOCUS</a:t>
              </a:r>
              <a:endParaRPr b="1" sz="1000">
                <a:solidFill>
                  <a:srgbClr val="F8717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8450" lvl="0" marL="457200" rtl="0" algn="l">
                <a:spcBef>
                  <a:spcPts val="800"/>
                </a:spcBef>
                <a:spcAft>
                  <a:spcPts val="0"/>
                </a:spcAft>
                <a:buClr>
                  <a:srgbClr val="E2E8F0"/>
                </a:buClr>
                <a:buSzPts val="1100"/>
                <a:buFont typeface="Roboto"/>
                <a:buChar char="●"/>
              </a:pPr>
              <a:r>
                <a:rPr b="0" lang="en" sz="1100">
                  <a:solidFill>
                    <a:srgbClr val="E2E8F0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VPN protects the network connection, granting broad access.</a:t>
              </a:r>
              <a:endParaRPr b="0" sz="1100">
                <a:solidFill>
                  <a:srgbClr val="E2E8F0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  <a:p>
              <a:pPr indent="-298450" lvl="0" marL="457200" rtl="0" algn="l">
                <a:spcBef>
                  <a:spcPts val="800"/>
                </a:spcBef>
                <a:spcAft>
                  <a:spcPts val="800"/>
                </a:spcAft>
                <a:buClr>
                  <a:srgbClr val="E2E8F0"/>
                </a:buClr>
                <a:buSzPts val="1100"/>
                <a:buFont typeface="Roboto"/>
                <a:buChar char="●"/>
              </a:pPr>
              <a:r>
                <a:rPr b="0" lang="en" sz="1100">
                  <a:solidFill>
                    <a:srgbClr val="E2E8F0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VPN trusts implicitly once authentication is successful.</a:t>
              </a:r>
              <a:endParaRPr b="0" sz="1100">
                <a:solidFill>
                  <a:srgbClr val="E2E8F0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</p:grpSp>
      <p:grpSp>
        <p:nvGrpSpPr>
          <p:cNvPr id="407" name="Google Shape;407;p23"/>
          <p:cNvGrpSpPr/>
          <p:nvPr/>
        </p:nvGrpSpPr>
        <p:grpSpPr>
          <a:xfrm>
            <a:off x="4762500" y="1190625"/>
            <a:ext cx="3905400" cy="2238300"/>
            <a:chOff x="0" y="0"/>
            <a:chExt cx="3905400" cy="2238300"/>
          </a:xfrm>
        </p:grpSpPr>
        <p:sp>
          <p:nvSpPr>
            <p:cNvPr id="408" name="Google Shape;408;p23"/>
            <p:cNvSpPr/>
            <p:nvPr/>
          </p:nvSpPr>
          <p:spPr>
            <a:xfrm>
              <a:off x="0" y="0"/>
              <a:ext cx="3905400" cy="2238300"/>
            </a:xfrm>
            <a:prstGeom prst="roundRect">
              <a:avLst>
                <a:gd fmla="val 6808" name="adj"/>
              </a:avLst>
            </a:prstGeom>
            <a:solidFill>
              <a:srgbClr val="0B254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23"/>
            <p:cNvSpPr/>
            <p:nvPr/>
          </p:nvSpPr>
          <p:spPr>
            <a:xfrm>
              <a:off x="0" y="0"/>
              <a:ext cx="3905400" cy="428700"/>
            </a:xfrm>
            <a:prstGeom prst="roundRect">
              <a:avLst>
                <a:gd fmla="val 35555" name="adj"/>
              </a:avLst>
            </a:prstGeom>
            <a:solidFill>
              <a:srgbClr val="13407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23"/>
            <p:cNvSpPr/>
            <p:nvPr/>
          </p:nvSpPr>
          <p:spPr>
            <a:xfrm>
              <a:off x="0" y="238125"/>
              <a:ext cx="3905400" cy="190500"/>
            </a:xfrm>
            <a:prstGeom prst="rect">
              <a:avLst/>
            </a:prstGeom>
            <a:solidFill>
              <a:srgbClr val="13407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23"/>
            <p:cNvSpPr txBox="1"/>
            <p:nvPr/>
          </p:nvSpPr>
          <p:spPr>
            <a:xfrm>
              <a:off x="190500" y="114300"/>
              <a:ext cx="23814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FFFFFF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Zero Trust Architecture</a:t>
              </a:r>
              <a:endParaRPr b="0" sz="1400">
                <a:solidFill>
                  <a:srgbClr val="FFFFFF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</p:txBody>
        </p:sp>
        <p:pic>
          <p:nvPicPr>
            <p:cNvPr descr="An abstract concept of continuous verification, micro-segmentation, digital key, or shield, in cyber security, with a deep blue and emerald green theme, modern interface style." id="412" name="Google Shape;412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0500" y="619125"/>
              <a:ext cx="1047900" cy="1047900"/>
            </a:xfrm>
            <a:prstGeom prst="roundRect">
              <a:avLst>
                <a:gd fmla="val 14545" name="adj"/>
              </a:avLst>
            </a:prstGeom>
            <a:noFill/>
            <a:ln>
              <a:noFill/>
            </a:ln>
          </p:spPr>
        </p:pic>
        <p:sp>
          <p:nvSpPr>
            <p:cNvPr id="413" name="Google Shape;413;p23"/>
            <p:cNvSpPr txBox="1"/>
            <p:nvPr/>
          </p:nvSpPr>
          <p:spPr>
            <a:xfrm>
              <a:off x="1428750" y="619125"/>
              <a:ext cx="2286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34D399"/>
                  </a:solidFill>
                  <a:latin typeface="Roboto"/>
                  <a:ea typeface="Roboto"/>
                  <a:cs typeface="Roboto"/>
                  <a:sym typeface="Roboto"/>
                </a:rPr>
                <a:t>IDENTITY &amp; REQUEST FOCUS</a:t>
              </a:r>
              <a:endParaRPr b="1" sz="1000">
                <a:solidFill>
                  <a:srgbClr val="34D399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8450" lvl="0" marL="457200" rtl="0" algn="l">
                <a:spcBef>
                  <a:spcPts val="800"/>
                </a:spcBef>
                <a:spcAft>
                  <a:spcPts val="0"/>
                </a:spcAft>
                <a:buClr>
                  <a:srgbClr val="E2E8F0"/>
                </a:buClr>
                <a:buSzPts val="1100"/>
                <a:buFont typeface="Roboto"/>
                <a:buChar char="●"/>
              </a:pPr>
              <a:r>
                <a:rPr b="0" lang="en" sz="1100">
                  <a:solidFill>
                    <a:srgbClr val="E2E8F0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Zero Trust protects every single access request and resources.</a:t>
              </a:r>
              <a:endParaRPr b="0" sz="1100">
                <a:solidFill>
                  <a:srgbClr val="E2E8F0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  <a:p>
              <a:pPr indent="-298450" lvl="0" marL="457200" rtl="0" algn="l">
                <a:spcBef>
                  <a:spcPts val="800"/>
                </a:spcBef>
                <a:spcAft>
                  <a:spcPts val="800"/>
                </a:spcAft>
                <a:buClr>
                  <a:srgbClr val="E2E8F0"/>
                </a:buClr>
                <a:buSzPts val="1100"/>
                <a:buFont typeface="Roboto"/>
                <a:buChar char="●"/>
              </a:pPr>
              <a:r>
                <a:rPr b="0" lang="en" sz="1100">
                  <a:solidFill>
                    <a:srgbClr val="E2E8F0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Zero Trust continuously verifies all users and devices.</a:t>
              </a:r>
              <a:endParaRPr b="0" sz="1100">
                <a:solidFill>
                  <a:srgbClr val="E2E8F0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</p:grpSp>
      <p:grpSp>
        <p:nvGrpSpPr>
          <p:cNvPr id="414" name="Google Shape;414;p23"/>
          <p:cNvGrpSpPr/>
          <p:nvPr/>
        </p:nvGrpSpPr>
        <p:grpSpPr>
          <a:xfrm>
            <a:off x="476250" y="3619500"/>
            <a:ext cx="8191500" cy="714300"/>
            <a:chOff x="0" y="0"/>
            <a:chExt cx="8191500" cy="714300"/>
          </a:xfrm>
        </p:grpSpPr>
        <p:sp>
          <p:nvSpPr>
            <p:cNvPr id="415" name="Google Shape;415;p23"/>
            <p:cNvSpPr/>
            <p:nvPr/>
          </p:nvSpPr>
          <p:spPr>
            <a:xfrm>
              <a:off x="0" y="0"/>
              <a:ext cx="8191500" cy="714300"/>
            </a:xfrm>
            <a:prstGeom prst="roundRect">
              <a:avLst>
                <a:gd fmla="val 16000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23"/>
            <p:cNvSpPr/>
            <p:nvPr/>
          </p:nvSpPr>
          <p:spPr>
            <a:xfrm>
              <a:off x="0" y="0"/>
              <a:ext cx="57300" cy="714300"/>
            </a:xfrm>
            <a:prstGeom prst="roundRect">
              <a:avLst>
                <a:gd fmla="val 50000" name="adj"/>
              </a:avLst>
            </a:prstGeom>
            <a:solidFill>
              <a:srgbClr val="34D39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23"/>
            <p:cNvSpPr txBox="1"/>
            <p:nvPr/>
          </p:nvSpPr>
          <p:spPr>
            <a:xfrm>
              <a:off x="238125" y="142875"/>
              <a:ext cx="77154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F8FAFC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“Zero Trust does not replace encryption provided by VPNs—it changes the security model by verifying every access request instead of assuming trust after connection.”</a:t>
              </a:r>
              <a:endParaRPr b="0" sz="1150">
                <a:solidFill>
                  <a:srgbClr val="F8FAFC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</p:grpSp>
      <p:cxnSp>
        <p:nvCxnSpPr>
          <p:cNvPr id="418" name="Google Shape;418;p23"/>
          <p:cNvCxnSpPr/>
          <p:nvPr/>
        </p:nvCxnSpPr>
        <p:spPr>
          <a:xfrm>
            <a:off x="476250" y="4524375"/>
            <a:ext cx="81915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9" name="Google Shape;419;p23"/>
          <p:cNvSpPr txBox="1"/>
          <p:nvPr/>
        </p:nvSpPr>
        <p:spPr>
          <a:xfrm>
            <a:off x="476250" y="4667250"/>
            <a:ext cx="2667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LAB</a:t>
            </a:r>
            <a:endParaRPr b="1" sz="800">
              <a:solidFill>
                <a:srgbClr val="64748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lang="en" sz="825">
                <a:solidFill>
                  <a:srgbClr val="0F172A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Cross Functional Learning Lab</a:t>
            </a:r>
            <a:endParaRPr b="0" sz="825">
              <a:solidFill>
                <a:srgbClr val="0F172A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20" name="Google Shape;420;p23"/>
          <p:cNvSpPr txBox="1"/>
          <p:nvPr/>
        </p:nvSpPr>
        <p:spPr>
          <a:xfrm>
            <a:off x="3619500" y="466725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PRESENTER</a:t>
            </a:r>
            <a:endParaRPr b="1" sz="800">
              <a:solidFill>
                <a:srgbClr val="64748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rPr b="0" lang="en" sz="825">
                <a:solidFill>
                  <a:srgbClr val="0F172A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Baishnabi Samal</a:t>
            </a:r>
            <a:endParaRPr b="0" sz="825">
              <a:solidFill>
                <a:srgbClr val="0F172A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421" name="Google Shape;421;p23"/>
          <p:cNvSpPr txBox="1"/>
          <p:nvPr/>
        </p:nvSpPr>
        <p:spPr>
          <a:xfrm>
            <a:off x="6762750" y="466725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DATE</a:t>
            </a:r>
            <a:endParaRPr b="1" sz="800">
              <a:solidFill>
                <a:srgbClr val="64748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100"/>
              </a:spcBef>
              <a:spcAft>
                <a:spcPts val="0"/>
              </a:spcAft>
              <a:buNone/>
            </a:pPr>
            <a:r>
              <a:rPr b="0" lang="en" sz="825">
                <a:solidFill>
                  <a:srgbClr val="0F172A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July 2, 2026</a:t>
            </a:r>
            <a:endParaRPr b="0" sz="825">
              <a:solidFill>
                <a:srgbClr val="0F172A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